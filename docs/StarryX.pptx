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3" r:id="rId3"/>
    <p:sldId id="264" r:id="rId4"/>
    <p:sldId id="299" r:id="rId5"/>
    <p:sldId id="301" r:id="rId6"/>
    <p:sldId id="300" r:id="rId7"/>
    <p:sldId id="302" r:id="rId8"/>
    <p:sldId id="303" r:id="rId9"/>
    <p:sldId id="266" r:id="rId10"/>
    <p:sldId id="267" r:id="rId11"/>
    <p:sldId id="288" r:id="rId12"/>
    <p:sldId id="290" r:id="rId13"/>
    <p:sldId id="289" r:id="rId14"/>
    <p:sldId id="272" r:id="rId15"/>
    <p:sldId id="273" r:id="rId16"/>
    <p:sldId id="292" r:id="rId17"/>
    <p:sldId id="276" r:id="rId18"/>
    <p:sldId id="277" r:id="rId19"/>
    <p:sldId id="297" r:id="rId20"/>
    <p:sldId id="298" r:id="rId21"/>
    <p:sldId id="279" r:id="rId22"/>
    <p:sldId id="280" r:id="rId23"/>
    <p:sldId id="295" r:id="rId24"/>
    <p:sldId id="282" r:id="rId25"/>
    <p:sldId id="283" r:id="rId26"/>
    <p:sldId id="284" r:id="rId27"/>
    <p:sldId id="286" r:id="rId28"/>
  </p:sldIdLst>
  <p:sldSz cx="18288000" cy="10287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648" y="8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grpSp>
        <p:nvGrpSpPr>
          <p:cNvPr id="3" name="group 2"/>
          <p:cNvGrpSpPr/>
          <p:nvPr/>
        </p:nvGrpSpPr>
        <p:grpSpPr>
          <a:xfrm rot="21600000">
            <a:off x="0" y="3181476"/>
            <a:ext cx="18288000" cy="4573397"/>
            <a:chOff x="0" y="0"/>
            <a:chExt cx="18288000" cy="4573397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1600000">
              <a:off x="0" y="0"/>
              <a:ext cx="18288000" cy="4573397"/>
            </a:xfrm>
            <a:prstGeom prst="rect">
              <a:avLst/>
            </a:prstGeom>
          </p:spPr>
        </p:pic>
        <p:sp>
          <p:nvSpPr>
            <p:cNvPr id="6" name="textbox 6"/>
            <p:cNvSpPr/>
            <p:nvPr/>
          </p:nvSpPr>
          <p:spPr>
            <a:xfrm>
              <a:off x="-12700" y="-12700"/>
              <a:ext cx="18313400" cy="481837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9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9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9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0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0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0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0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0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10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7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5422900" algn="just" rtl="0" eaLnBrk="0">
                <a:lnSpc>
                  <a:spcPct val="84000"/>
                </a:lnSpc>
              </a:pPr>
              <a:r>
                <a:rPr lang="en-US" sz="9000" b="1" kern="0" spc="-80" dirty="0">
                  <a:solidFill>
                    <a:srgbClr val="F2F2F2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  </a:t>
              </a:r>
              <a:r>
                <a:rPr lang="en-US" sz="9000" b="1" kern="0" spc="-8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StarryX</a:t>
              </a:r>
              <a:r>
                <a:rPr sz="9000" b="1" kern="0" spc="-8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 O</a:t>
              </a:r>
              <a:r>
                <a:rPr sz="9000" b="1" kern="0" spc="-9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S</a:t>
              </a:r>
              <a:endParaRPr lang="en-US" sz="9000" b="1" kern="0" spc="-90" dirty="0">
                <a:solidFill>
                  <a:srgbClr val="F2F2F2">
                    <a:alpha val="100000"/>
                  </a:srgbClr>
                </a:solidFill>
                <a:latin typeface="Viner Hand ITC" panose="03070502030502020203" pitchFamily="66" charset="0"/>
                <a:ea typeface="微软雅黑" panose="020B0503020204020204" charset="-122"/>
                <a:cs typeface="微软雅黑" panose="020B0503020204020204" charset="-122"/>
              </a:endParaRPr>
            </a:p>
            <a:p>
              <a:pPr marL="5422900" algn="just" rtl="0" eaLnBrk="0">
                <a:lnSpc>
                  <a:spcPct val="84000"/>
                </a:lnSpc>
              </a:pPr>
              <a:endParaRPr lang="en-US" altLang="zh-CN" sz="4400" b="1" kern="0" spc="-90" dirty="0">
                <a:solidFill>
                  <a:srgbClr val="F2F2F2">
                    <a:alpha val="100000"/>
                  </a:srgbClr>
                </a:solidFill>
                <a:latin typeface="Viner Hand ITC" panose="03070502030502020203" pitchFamily="66" charset="0"/>
                <a:ea typeface="微软雅黑" panose="020B0503020204020204" charset="-122"/>
                <a:cs typeface="微软雅黑" panose="020B0503020204020204" charset="-122"/>
              </a:endParaRPr>
            </a:p>
            <a:p>
              <a:pPr marL="5422900" algn="just" rtl="0" eaLnBrk="0">
                <a:lnSpc>
                  <a:spcPct val="84000"/>
                </a:lnSpc>
              </a:pPr>
              <a:r>
                <a:rPr lang="en-US" altLang="zh-CN" sz="4400" b="1" kern="0" spc="-9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			</a:t>
              </a:r>
              <a:r>
                <a:rPr lang="en-US" altLang="zh-CN" sz="4000" b="1" kern="0" spc="-9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——</a:t>
              </a:r>
              <a:r>
                <a:rPr lang="zh-CN" altLang="en-US" sz="3600" b="1" kern="0" spc="-90" dirty="0">
                  <a:solidFill>
                    <a:srgbClr val="F2F2F2">
                      <a:alpha val="100000"/>
                    </a:srgb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</a:rPr>
                <a:t>基于组件化操作系统</a:t>
              </a:r>
              <a:r>
                <a:rPr lang="en-US" altLang="zh-CN" sz="4400" b="1" kern="0" spc="-9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ARceOS</a:t>
              </a:r>
              <a:r>
                <a:rPr lang="zh-CN" altLang="en-US" sz="3200" b="1" kern="0" spc="-90" dirty="0">
                  <a:solidFill>
                    <a:srgbClr val="F2F2F2">
                      <a:alpha val="100000"/>
                    </a:srgb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</a:rPr>
                <a:t>的宏内核扩展</a:t>
              </a:r>
              <a:endParaRPr lang="en-US" sz="4400" b="1" kern="0" spc="-90" dirty="0">
                <a:solidFill>
                  <a:srgbClr val="F2F2F2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endParaRPr>
            </a:p>
            <a:p>
              <a:pPr marL="5422900" algn="just" rtl="0" eaLnBrk="0">
                <a:lnSpc>
                  <a:spcPct val="84000"/>
                </a:lnSpc>
              </a:pPr>
              <a:r>
                <a:rPr lang="en-US" sz="9000" b="1" kern="0" spc="-90" dirty="0">
                  <a:solidFill>
                    <a:srgbClr val="F2F2F2">
                      <a:alpha val="100000"/>
                    </a:srgbClr>
                  </a:solidFill>
                  <a:latin typeface="Viner Hand ITC" panose="03070502030502020203" pitchFamily="66" charset="0"/>
                  <a:ea typeface="微软雅黑" panose="020B0503020204020204" charset="-122"/>
                  <a:cs typeface="微软雅黑" panose="020B0503020204020204" charset="-122"/>
                </a:rPr>
                <a:t>	</a:t>
              </a:r>
              <a:endParaRPr sz="9000" dirty="0">
                <a:latin typeface="Viner Hand ITC" panose="03070502030502020203" pitchFamily="66" charset="0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12848183" y="148373"/>
            <a:ext cx="5323357" cy="1242529"/>
          </a:xfrm>
          <a:prstGeom prst="rect">
            <a:avLst/>
          </a:prstGeom>
        </p:spPr>
      </p:pic>
      <p:sp>
        <p:nvSpPr>
          <p:cNvPr id="10" name="textbox 10"/>
          <p:cNvSpPr/>
          <p:nvPr/>
        </p:nvSpPr>
        <p:spPr>
          <a:xfrm>
            <a:off x="10406707" y="8651119"/>
            <a:ext cx="7485878" cy="67823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altLang="en-US" sz="2800" b="1" kern="0" spc="-10" dirty="0"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charset="-122"/>
              </a:rPr>
              <a:t>杭州电子科技大学： </a:t>
            </a:r>
            <a:r>
              <a:rPr lang="zh-CN" sz="2800" b="1" kern="0" spc="-10" dirty="0"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charset="-122"/>
              </a:rPr>
              <a:t>陆晨涛</a:t>
            </a:r>
            <a:r>
              <a:rPr lang="en-US" altLang="zh-CN" sz="2800" b="1" kern="0" spc="-10" dirty="0"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charset="-122"/>
              </a:rPr>
              <a:t> </a:t>
            </a:r>
            <a:r>
              <a:rPr lang="zh-CN" altLang="en-US" sz="2800" b="1" kern="0" spc="-10" dirty="0">
                <a:latin typeface="宋体" panose="02010600030101010101" pitchFamily="2" charset="-122"/>
                <a:ea typeface="宋体" panose="02010600030101010101" pitchFamily="2" charset="-122"/>
                <a:cs typeface="微软雅黑" panose="020B0503020204020204" charset="-122"/>
              </a:rPr>
              <a:t>祖启松</a:t>
            </a:r>
          </a:p>
        </p:txBody>
      </p:sp>
      <p:pic>
        <p:nvPicPr>
          <p:cNvPr id="142" name="picture 14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395527" y="357568"/>
            <a:ext cx="2938940" cy="6170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 52"/>
          <p:cNvSpPr/>
          <p:nvPr/>
        </p:nvSpPr>
        <p:spPr>
          <a:xfrm>
            <a:off x="2477" y="0"/>
            <a:ext cx="18285522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grpSp>
        <p:nvGrpSpPr>
          <p:cNvPr id="6" name="group 6"/>
          <p:cNvGrpSpPr/>
          <p:nvPr/>
        </p:nvGrpSpPr>
        <p:grpSpPr>
          <a:xfrm rot="21600000">
            <a:off x="0" y="2838450"/>
            <a:ext cx="5791200" cy="4610100"/>
            <a:chOff x="0" y="0"/>
            <a:chExt cx="5791200" cy="4610100"/>
          </a:xfrm>
        </p:grpSpPr>
        <p:pic>
          <p:nvPicPr>
            <p:cNvPr id="54" name="picture 5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1600000">
              <a:off x="0" y="0"/>
              <a:ext cx="5791200" cy="4610100"/>
            </a:xfrm>
            <a:prstGeom prst="rect">
              <a:avLst/>
            </a:prstGeom>
          </p:spPr>
        </p:pic>
        <p:sp>
          <p:nvSpPr>
            <p:cNvPr id="56" name="textbox 56"/>
            <p:cNvSpPr/>
            <p:nvPr/>
          </p:nvSpPr>
          <p:spPr>
            <a:xfrm>
              <a:off x="-12700" y="-12700"/>
              <a:ext cx="5816600" cy="4718684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6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6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6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6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6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7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7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7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9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1254125" algn="l" rtl="0" eaLnBrk="0">
                <a:lnSpc>
                  <a:spcPct val="90000"/>
                </a:lnSpc>
              </a:pPr>
              <a:r>
                <a:rPr sz="8700" b="1" kern="0" spc="-470" dirty="0">
                  <a:solidFill>
                    <a:srgbClr val="FFFFFF">
                      <a:alpha val="100000"/>
                    </a:srgb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</a:rPr>
                <a:t>目</a:t>
              </a:r>
              <a:r>
                <a:rPr sz="8700" b="1" kern="0" spc="170" dirty="0">
                  <a:solidFill>
                    <a:srgbClr val="FFFFFF">
                      <a:alpha val="100000"/>
                    </a:srgb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</a:rPr>
                <a:t> </a:t>
              </a:r>
              <a:r>
                <a:rPr sz="8700" b="1" kern="0" spc="-470" dirty="0">
                  <a:solidFill>
                    <a:srgbClr val="FFFFFF">
                      <a:alpha val="100000"/>
                    </a:srgb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</a:rPr>
                <a:t>录</a:t>
              </a:r>
              <a:endParaRPr sz="8700" dirty="0"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endParaRPr>
            </a:p>
            <a:p>
              <a:pPr algn="l" rtl="0" eaLnBrk="0">
                <a:lnSpc>
                  <a:spcPct val="15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9000"/>
                </a:lnSpc>
              </a:pPr>
              <a:endParaRPr sz="900" dirty="0">
                <a:latin typeface="Times New Roman" panose="02020603050405020304" pitchFamily="18" charset="0"/>
                <a:ea typeface="Arial" panose="020B0604020202020204"/>
                <a:cs typeface="Times New Roman" panose="02020603050405020304" pitchFamily="18" charset="0"/>
              </a:endParaRPr>
            </a:p>
            <a:p>
              <a:pPr marL="1008380" algn="l" rtl="0" eaLnBrk="0">
                <a:lnSpc>
                  <a:spcPct val="81000"/>
                </a:lnSpc>
                <a:spcBef>
                  <a:spcPts val="5"/>
                </a:spcBef>
              </a:pPr>
              <a:r>
                <a:rPr lang="en-US" sz="3900" b="1" kern="0" spc="30" dirty="0">
                  <a:solidFill>
                    <a:srgbClr val="FFFFFF">
                      <a:alpha val="100000"/>
                    </a:srgbClr>
                  </a:solidFill>
                  <a:latin typeface="Times New Roman" panose="02020603050405020304" pitchFamily="18" charset="0"/>
                  <a:ea typeface="微软雅黑" panose="020B0503020204020204" charset="-122"/>
                  <a:cs typeface="Times New Roman" panose="02020603050405020304" pitchFamily="18" charset="0"/>
                </a:rPr>
                <a:t>   </a:t>
              </a:r>
              <a:r>
                <a:rPr sz="3900" b="1" kern="0" spc="30" dirty="0">
                  <a:solidFill>
                    <a:srgbClr val="FFFFFF">
                      <a:alpha val="100000"/>
                    </a:srgbClr>
                  </a:solidFill>
                  <a:latin typeface="Times New Roman" panose="02020603050405020304" pitchFamily="18" charset="0"/>
                  <a:ea typeface="微软雅黑" panose="020B0503020204020204" charset="-122"/>
                  <a:cs typeface="Times New Roman" panose="02020603050405020304" pitchFamily="18" charset="0"/>
                </a:rPr>
                <a:t>CONTENTS</a:t>
              </a:r>
              <a:endParaRPr sz="3900" dirty="0">
                <a:latin typeface="Times New Roman" panose="02020603050405020304" pitchFamily="18" charset="0"/>
                <a:ea typeface="微软雅黑" panose="020B0503020204020204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58" name="textbox 58"/>
          <p:cNvSpPr/>
          <p:nvPr/>
        </p:nvSpPr>
        <p:spPr>
          <a:xfrm>
            <a:off x="10120376" y="2521203"/>
            <a:ext cx="4976495" cy="866139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6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184275" algn="l" rtl="0" eaLnBrk="0">
              <a:lnSpc>
                <a:spcPct val="89000"/>
              </a:lnSpc>
            </a:pPr>
            <a:r>
              <a:rPr lang="en-US" sz="3000" b="1" kern="0" spc="-3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3000" b="1" kern="0" spc="-3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30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0" name="textbox 60"/>
          <p:cNvSpPr/>
          <p:nvPr/>
        </p:nvSpPr>
        <p:spPr>
          <a:xfrm>
            <a:off x="10120376" y="3973067"/>
            <a:ext cx="4976495" cy="866139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67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161415" algn="l" rtl="0" eaLnBrk="0">
              <a:lnSpc>
                <a:spcPct val="89000"/>
              </a:lnSpc>
              <a:spcBef>
                <a:spcPts val="0"/>
              </a:spcBef>
            </a:pPr>
            <a:r>
              <a:rPr lang="en-US" altLang="zh-CN" sz="3000" b="1" kern="0" spc="-1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lang="zh-CN" sz="30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62" name="textbox 62"/>
          <p:cNvSpPr/>
          <p:nvPr/>
        </p:nvSpPr>
        <p:spPr>
          <a:xfrm>
            <a:off x="10120376" y="6876922"/>
            <a:ext cx="4976495" cy="866139"/>
          </a:xfrm>
          <a:prstGeom prst="rect">
            <a:avLst/>
          </a:prstGeom>
          <a:solidFill>
            <a:srgbClr val="0070C0">
              <a:alpha val="97254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67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765300" algn="l" rtl="0" eaLnBrk="0">
              <a:lnSpc>
                <a:spcPct val="89000"/>
              </a:lnSpc>
              <a:spcBef>
                <a:spcPts val="5"/>
              </a:spcBef>
            </a:pPr>
            <a:r>
              <a:rPr lang="zh-CN" sz="30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网络模块</a:t>
            </a:r>
            <a:endParaRPr lang="zh-CN" sz="30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4" name="textbox 64"/>
          <p:cNvSpPr/>
          <p:nvPr/>
        </p:nvSpPr>
        <p:spPr>
          <a:xfrm>
            <a:off x="10120376" y="1045336"/>
            <a:ext cx="4976495" cy="866139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66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732280" algn="l" rtl="0" eaLnBrk="0">
              <a:lnSpc>
                <a:spcPct val="89000"/>
              </a:lnSpc>
            </a:pPr>
            <a:r>
              <a:rPr sz="30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30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6" name="textbox 66"/>
          <p:cNvSpPr/>
          <p:nvPr/>
        </p:nvSpPr>
        <p:spPr>
          <a:xfrm>
            <a:off x="10120375" y="8375525"/>
            <a:ext cx="4976495" cy="866139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67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2282190" algn="l" rtl="0" eaLnBrk="0">
              <a:lnSpc>
                <a:spcPct val="89000"/>
              </a:lnSpc>
              <a:spcBef>
                <a:spcPts val="5"/>
              </a:spcBef>
            </a:pPr>
            <a:r>
              <a:rPr sz="30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30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8" name="textbox 68"/>
          <p:cNvSpPr/>
          <p:nvPr/>
        </p:nvSpPr>
        <p:spPr>
          <a:xfrm>
            <a:off x="10120376" y="5425059"/>
            <a:ext cx="4976495" cy="866139"/>
          </a:xfrm>
          <a:prstGeom prst="rect">
            <a:avLst/>
          </a:prstGeom>
          <a:solidFill>
            <a:srgbClr val="0070C0">
              <a:alpha val="95686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67000"/>
              </a:lnSpc>
            </a:pPr>
            <a:r>
              <a:rPr lang="en-US" sz="3000" b="1" kern="0" spc="-1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            </a:t>
            </a:r>
            <a:r>
              <a:rPr sz="30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文件系统</a:t>
            </a:r>
            <a:endParaRPr sz="30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  <a:p>
            <a:pPr marL="1748155" algn="l" rtl="0" eaLnBrk="0">
              <a:lnSpc>
                <a:spcPct val="89000"/>
              </a:lnSpc>
              <a:spcBef>
                <a:spcPts val="0"/>
              </a:spcBef>
            </a:pPr>
            <a:endParaRPr sz="30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1748155" algn="l" rtl="0" eaLnBrk="0">
              <a:lnSpc>
                <a:spcPct val="89000"/>
              </a:lnSpc>
              <a:spcBef>
                <a:spcPts val="0"/>
              </a:spcBef>
            </a:pPr>
            <a:endParaRPr sz="30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8" name="group 8"/>
          <p:cNvGrpSpPr/>
          <p:nvPr/>
        </p:nvGrpSpPr>
        <p:grpSpPr>
          <a:xfrm rot="21600000">
            <a:off x="8463026" y="2521203"/>
            <a:ext cx="1366647" cy="865759"/>
            <a:chOff x="0" y="0"/>
            <a:chExt cx="1366647" cy="865759"/>
          </a:xfrm>
        </p:grpSpPr>
        <p:sp>
          <p:nvSpPr>
            <p:cNvPr id="70" name="path 70"/>
            <p:cNvSpPr/>
            <p:nvPr/>
          </p:nvSpPr>
          <p:spPr>
            <a:xfrm>
              <a:off x="0" y="0"/>
              <a:ext cx="1366647" cy="865759"/>
            </a:xfrm>
            <a:custGeom>
              <a:avLst/>
              <a:gdLst/>
              <a:ahLst/>
              <a:cxnLst/>
              <a:rect l="0" t="0" r="0" b="0"/>
              <a:pathLst>
                <a:path w="2152" h="1363">
                  <a:moveTo>
                    <a:pt x="0" y="681"/>
                  </a:moveTo>
                  <a:cubicBezTo>
                    <a:pt x="0" y="305"/>
                    <a:pt x="305" y="0"/>
                    <a:pt x="681" y="0"/>
                  </a:cubicBezTo>
                  <a:lnTo>
                    <a:pt x="1470" y="0"/>
                  </a:lnTo>
                  <a:cubicBezTo>
                    <a:pt x="1847" y="0"/>
                    <a:pt x="2152" y="305"/>
                    <a:pt x="2152" y="681"/>
                  </a:cubicBezTo>
                  <a:cubicBezTo>
                    <a:pt x="2152" y="1058"/>
                    <a:pt x="1847" y="1363"/>
                    <a:pt x="1470" y="1363"/>
                  </a:cubicBezTo>
                  <a:lnTo>
                    <a:pt x="681" y="1363"/>
                  </a:lnTo>
                  <a:cubicBezTo>
                    <a:pt x="305" y="1363"/>
                    <a:pt x="0" y="1058"/>
                    <a:pt x="0" y="681"/>
                  </a:cubicBezTo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72" name="textbox 72"/>
            <p:cNvSpPr/>
            <p:nvPr/>
          </p:nvSpPr>
          <p:spPr>
            <a:xfrm>
              <a:off x="-12700" y="-12700"/>
              <a:ext cx="1392555" cy="89153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8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97205" algn="l" rtl="0" eaLnBrk="0">
                <a:lnSpc>
                  <a:spcPct val="89000"/>
                </a:lnSpc>
                <a:spcBef>
                  <a:spcPts val="5"/>
                </a:spcBef>
              </a:pPr>
              <a:r>
                <a:rPr sz="2700" b="1" kern="0" spc="-3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02</a:t>
              </a:r>
              <a:endParaRPr sz="27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 rot="21600000">
            <a:off x="8463026" y="3973067"/>
            <a:ext cx="1366647" cy="865759"/>
            <a:chOff x="0" y="0"/>
            <a:chExt cx="1366647" cy="865759"/>
          </a:xfrm>
        </p:grpSpPr>
        <p:sp>
          <p:nvSpPr>
            <p:cNvPr id="74" name="path 74"/>
            <p:cNvSpPr/>
            <p:nvPr/>
          </p:nvSpPr>
          <p:spPr>
            <a:xfrm>
              <a:off x="0" y="0"/>
              <a:ext cx="1366647" cy="865759"/>
            </a:xfrm>
            <a:custGeom>
              <a:avLst/>
              <a:gdLst/>
              <a:ahLst/>
              <a:cxnLst/>
              <a:rect l="0" t="0" r="0" b="0"/>
              <a:pathLst>
                <a:path w="2152" h="1363">
                  <a:moveTo>
                    <a:pt x="0" y="681"/>
                  </a:moveTo>
                  <a:cubicBezTo>
                    <a:pt x="0" y="305"/>
                    <a:pt x="305" y="0"/>
                    <a:pt x="681" y="0"/>
                  </a:cubicBezTo>
                  <a:lnTo>
                    <a:pt x="1470" y="0"/>
                  </a:lnTo>
                  <a:cubicBezTo>
                    <a:pt x="1847" y="0"/>
                    <a:pt x="2152" y="305"/>
                    <a:pt x="2152" y="681"/>
                  </a:cubicBezTo>
                  <a:cubicBezTo>
                    <a:pt x="2152" y="1057"/>
                    <a:pt x="1847" y="1363"/>
                    <a:pt x="1470" y="1363"/>
                  </a:cubicBezTo>
                  <a:lnTo>
                    <a:pt x="681" y="1363"/>
                  </a:lnTo>
                  <a:cubicBezTo>
                    <a:pt x="305" y="1363"/>
                    <a:pt x="0" y="1058"/>
                    <a:pt x="0" y="681"/>
                  </a:cubicBezTo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76" name="textbox 76"/>
            <p:cNvSpPr/>
            <p:nvPr/>
          </p:nvSpPr>
          <p:spPr>
            <a:xfrm>
              <a:off x="-12700" y="-12700"/>
              <a:ext cx="1392555" cy="89153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8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97205" algn="l" rtl="0" eaLnBrk="0">
                <a:lnSpc>
                  <a:spcPct val="89000"/>
                </a:lnSpc>
                <a:spcBef>
                  <a:spcPts val="5"/>
                </a:spcBef>
              </a:pPr>
              <a:r>
                <a:rPr sz="2700" b="1" kern="0" spc="-3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03</a:t>
              </a:r>
              <a:endParaRPr sz="27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 rot="21600000">
            <a:off x="8463026" y="6876922"/>
            <a:ext cx="1366647" cy="865759"/>
            <a:chOff x="0" y="0"/>
            <a:chExt cx="1366647" cy="865759"/>
          </a:xfrm>
        </p:grpSpPr>
        <p:sp>
          <p:nvSpPr>
            <p:cNvPr id="78" name="path 78"/>
            <p:cNvSpPr/>
            <p:nvPr/>
          </p:nvSpPr>
          <p:spPr>
            <a:xfrm>
              <a:off x="0" y="0"/>
              <a:ext cx="1366647" cy="865759"/>
            </a:xfrm>
            <a:custGeom>
              <a:avLst/>
              <a:gdLst/>
              <a:ahLst/>
              <a:cxnLst/>
              <a:rect l="0" t="0" r="0" b="0"/>
              <a:pathLst>
                <a:path w="2152" h="1363">
                  <a:moveTo>
                    <a:pt x="0" y="681"/>
                  </a:moveTo>
                  <a:cubicBezTo>
                    <a:pt x="0" y="305"/>
                    <a:pt x="305" y="0"/>
                    <a:pt x="681" y="0"/>
                  </a:cubicBezTo>
                  <a:lnTo>
                    <a:pt x="1470" y="0"/>
                  </a:lnTo>
                  <a:cubicBezTo>
                    <a:pt x="1847" y="0"/>
                    <a:pt x="2152" y="305"/>
                    <a:pt x="2152" y="681"/>
                  </a:cubicBezTo>
                  <a:cubicBezTo>
                    <a:pt x="2152" y="1058"/>
                    <a:pt x="1847" y="1363"/>
                    <a:pt x="1470" y="1363"/>
                  </a:cubicBezTo>
                  <a:lnTo>
                    <a:pt x="681" y="1363"/>
                  </a:lnTo>
                  <a:cubicBezTo>
                    <a:pt x="305" y="1363"/>
                    <a:pt x="0" y="1058"/>
                    <a:pt x="0" y="681"/>
                  </a:cubicBezTo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80" name="textbox 80"/>
            <p:cNvSpPr/>
            <p:nvPr/>
          </p:nvSpPr>
          <p:spPr>
            <a:xfrm>
              <a:off x="-12700" y="-12700"/>
              <a:ext cx="1392555" cy="89153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8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6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97205" algn="l" rtl="0" eaLnBrk="0">
                <a:lnSpc>
                  <a:spcPct val="89000"/>
                </a:lnSpc>
              </a:pPr>
              <a:r>
                <a:rPr sz="2700" b="1" kern="0" spc="-3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05</a:t>
              </a:r>
              <a:endParaRPr sz="27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 rot="21600000">
            <a:off x="8463026" y="1045336"/>
            <a:ext cx="1366647" cy="865758"/>
            <a:chOff x="0" y="0"/>
            <a:chExt cx="1366647" cy="865758"/>
          </a:xfrm>
        </p:grpSpPr>
        <p:sp>
          <p:nvSpPr>
            <p:cNvPr id="82" name="path 82"/>
            <p:cNvSpPr/>
            <p:nvPr/>
          </p:nvSpPr>
          <p:spPr>
            <a:xfrm>
              <a:off x="0" y="0"/>
              <a:ext cx="1366647" cy="865758"/>
            </a:xfrm>
            <a:custGeom>
              <a:avLst/>
              <a:gdLst/>
              <a:ahLst/>
              <a:cxnLst/>
              <a:rect l="0" t="0" r="0" b="0"/>
              <a:pathLst>
                <a:path w="2152" h="1363">
                  <a:moveTo>
                    <a:pt x="0" y="681"/>
                  </a:moveTo>
                  <a:cubicBezTo>
                    <a:pt x="0" y="305"/>
                    <a:pt x="305" y="0"/>
                    <a:pt x="681" y="0"/>
                  </a:cubicBezTo>
                  <a:lnTo>
                    <a:pt x="1470" y="0"/>
                  </a:lnTo>
                  <a:cubicBezTo>
                    <a:pt x="1847" y="0"/>
                    <a:pt x="2152" y="305"/>
                    <a:pt x="2152" y="681"/>
                  </a:cubicBezTo>
                  <a:cubicBezTo>
                    <a:pt x="2152" y="1057"/>
                    <a:pt x="1847" y="1363"/>
                    <a:pt x="1470" y="1363"/>
                  </a:cubicBezTo>
                  <a:lnTo>
                    <a:pt x="681" y="1363"/>
                  </a:lnTo>
                  <a:cubicBezTo>
                    <a:pt x="305" y="1363"/>
                    <a:pt x="0" y="1058"/>
                    <a:pt x="0" y="681"/>
                  </a:cubicBezTo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84" name="textbox 84"/>
            <p:cNvSpPr/>
            <p:nvPr/>
          </p:nvSpPr>
          <p:spPr>
            <a:xfrm>
              <a:off x="-12700" y="-12700"/>
              <a:ext cx="1392555" cy="89153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8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97205" algn="l" rtl="0" eaLnBrk="0">
                <a:lnSpc>
                  <a:spcPct val="89000"/>
                </a:lnSpc>
                <a:spcBef>
                  <a:spcPts val="0"/>
                </a:spcBef>
              </a:pPr>
              <a:r>
                <a:rPr sz="2700" b="1" kern="0" spc="-3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01</a:t>
              </a:r>
              <a:endParaRPr sz="27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 rot="21600000">
            <a:off x="8463026" y="8328786"/>
            <a:ext cx="1366647" cy="865733"/>
            <a:chOff x="0" y="0"/>
            <a:chExt cx="1366647" cy="865733"/>
          </a:xfrm>
        </p:grpSpPr>
        <p:sp>
          <p:nvSpPr>
            <p:cNvPr id="86" name="path 86"/>
            <p:cNvSpPr/>
            <p:nvPr/>
          </p:nvSpPr>
          <p:spPr>
            <a:xfrm>
              <a:off x="0" y="0"/>
              <a:ext cx="1366647" cy="865733"/>
            </a:xfrm>
            <a:custGeom>
              <a:avLst/>
              <a:gdLst/>
              <a:ahLst/>
              <a:cxnLst/>
              <a:rect l="0" t="0" r="0" b="0"/>
              <a:pathLst>
                <a:path w="2152" h="1363">
                  <a:moveTo>
                    <a:pt x="0" y="681"/>
                  </a:moveTo>
                  <a:cubicBezTo>
                    <a:pt x="0" y="305"/>
                    <a:pt x="305" y="0"/>
                    <a:pt x="681" y="0"/>
                  </a:cubicBezTo>
                  <a:lnTo>
                    <a:pt x="1470" y="0"/>
                  </a:lnTo>
                  <a:cubicBezTo>
                    <a:pt x="1847" y="0"/>
                    <a:pt x="2152" y="305"/>
                    <a:pt x="2152" y="681"/>
                  </a:cubicBezTo>
                  <a:cubicBezTo>
                    <a:pt x="2152" y="1058"/>
                    <a:pt x="1847" y="1363"/>
                    <a:pt x="1470" y="1363"/>
                  </a:cubicBezTo>
                  <a:lnTo>
                    <a:pt x="681" y="1363"/>
                  </a:lnTo>
                  <a:cubicBezTo>
                    <a:pt x="305" y="1363"/>
                    <a:pt x="0" y="1058"/>
                    <a:pt x="0" y="681"/>
                  </a:cubicBezTo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88" name="textbox 88"/>
            <p:cNvSpPr/>
            <p:nvPr/>
          </p:nvSpPr>
          <p:spPr>
            <a:xfrm>
              <a:off x="-12700" y="-12700"/>
              <a:ext cx="1392555" cy="89153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8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9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97205" algn="l" rtl="0" eaLnBrk="0">
                <a:lnSpc>
                  <a:spcPct val="89000"/>
                </a:lnSpc>
              </a:pPr>
              <a:r>
                <a:rPr sz="2700" b="1" kern="0" spc="-3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06</a:t>
              </a:r>
              <a:endParaRPr sz="27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 rot="21600000">
            <a:off x="8463026" y="5425059"/>
            <a:ext cx="1366647" cy="865631"/>
            <a:chOff x="0" y="0"/>
            <a:chExt cx="1366647" cy="865631"/>
          </a:xfrm>
        </p:grpSpPr>
        <p:sp>
          <p:nvSpPr>
            <p:cNvPr id="90" name="path 90"/>
            <p:cNvSpPr/>
            <p:nvPr/>
          </p:nvSpPr>
          <p:spPr>
            <a:xfrm>
              <a:off x="0" y="0"/>
              <a:ext cx="1366647" cy="865631"/>
            </a:xfrm>
            <a:custGeom>
              <a:avLst/>
              <a:gdLst/>
              <a:ahLst/>
              <a:cxnLst/>
              <a:rect l="0" t="0" r="0" b="0"/>
              <a:pathLst>
                <a:path w="2152" h="1363">
                  <a:moveTo>
                    <a:pt x="0" y="681"/>
                  </a:moveTo>
                  <a:cubicBezTo>
                    <a:pt x="0" y="305"/>
                    <a:pt x="305" y="0"/>
                    <a:pt x="681" y="0"/>
                  </a:cubicBezTo>
                  <a:lnTo>
                    <a:pt x="1470" y="0"/>
                  </a:lnTo>
                  <a:cubicBezTo>
                    <a:pt x="1847" y="0"/>
                    <a:pt x="2152" y="305"/>
                    <a:pt x="2152" y="681"/>
                  </a:cubicBezTo>
                  <a:cubicBezTo>
                    <a:pt x="2152" y="1057"/>
                    <a:pt x="1847" y="1363"/>
                    <a:pt x="1470" y="1363"/>
                  </a:cubicBezTo>
                  <a:lnTo>
                    <a:pt x="681" y="1363"/>
                  </a:lnTo>
                  <a:cubicBezTo>
                    <a:pt x="305" y="1363"/>
                    <a:pt x="0" y="1057"/>
                    <a:pt x="0" y="681"/>
                  </a:cubicBezTo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92" name="textbox 92"/>
            <p:cNvSpPr/>
            <p:nvPr/>
          </p:nvSpPr>
          <p:spPr>
            <a:xfrm>
              <a:off x="-12700" y="-12700"/>
              <a:ext cx="1392555" cy="89153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8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97205" algn="l" rtl="0" eaLnBrk="0">
                <a:lnSpc>
                  <a:spcPct val="89000"/>
                </a:lnSpc>
                <a:spcBef>
                  <a:spcPts val="5"/>
                </a:spcBef>
              </a:pPr>
              <a:r>
                <a:rPr sz="2700" b="1" kern="0" spc="-3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04</a:t>
              </a:r>
              <a:endParaRPr sz="27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 94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96" name="rect 96"/>
          <p:cNvSpPr/>
          <p:nvPr/>
        </p:nvSpPr>
        <p:spPr>
          <a:xfrm>
            <a:off x="7" y="0"/>
            <a:ext cx="18287992" cy="5604636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98" name="picture 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sp>
        <p:nvSpPr>
          <p:cNvPr id="100" name="textbox 100"/>
          <p:cNvSpPr/>
          <p:nvPr/>
        </p:nvSpPr>
        <p:spPr>
          <a:xfrm>
            <a:off x="7062139" y="6929856"/>
            <a:ext cx="4469765" cy="1121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8100" b="1" kern="0" spc="640" dirty="0">
                <a:solidFill>
                  <a:srgbClr val="0070C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81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grpSp>
        <p:nvGrpSpPr>
          <p:cNvPr id="20" name="group 20"/>
          <p:cNvGrpSpPr/>
          <p:nvPr/>
        </p:nvGrpSpPr>
        <p:grpSpPr>
          <a:xfrm rot="21600000">
            <a:off x="7989470" y="4572979"/>
            <a:ext cx="2312692" cy="2057875"/>
            <a:chOff x="0" y="0"/>
            <a:chExt cx="2312692" cy="2057875"/>
          </a:xfrm>
        </p:grpSpPr>
        <p:pic>
          <p:nvPicPr>
            <p:cNvPr id="102" name="picture 10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2312692" cy="2057875"/>
            </a:xfrm>
            <a:prstGeom prst="rect">
              <a:avLst/>
            </a:prstGeom>
          </p:spPr>
        </p:pic>
        <p:sp>
          <p:nvSpPr>
            <p:cNvPr id="104" name="textbox 104"/>
            <p:cNvSpPr/>
            <p:nvPr/>
          </p:nvSpPr>
          <p:spPr>
            <a:xfrm>
              <a:off x="-12700" y="-12700"/>
              <a:ext cx="2338704" cy="208343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1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7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391795" algn="l" rtl="0" eaLnBrk="0">
                <a:lnSpc>
                  <a:spcPct val="89000"/>
                </a:lnSpc>
              </a:pPr>
              <a:r>
                <a:rPr sz="3600" b="1" kern="0" spc="-50" dirty="0">
                  <a:solidFill>
                    <a:srgbClr val="007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Part.01</a:t>
              </a:r>
              <a:endParaRPr sz="36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pic>
        <p:nvPicPr>
          <p:cNvPr id="106" name="picture 10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38000" y="243014"/>
            <a:ext cx="4407433" cy="9141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 108"/>
          <p:cNvSpPr/>
          <p:nvPr/>
        </p:nvSpPr>
        <p:spPr>
          <a:xfrm>
            <a:off x="0" y="0"/>
            <a:ext cx="18268950" cy="10228798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12" name="rect 112"/>
          <p:cNvSpPr/>
          <p:nvPr/>
        </p:nvSpPr>
        <p:spPr>
          <a:xfrm>
            <a:off x="0" y="0"/>
            <a:ext cx="18288000" cy="1247131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14" name="picture 1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19417" y="151447"/>
            <a:ext cx="3790314" cy="918273"/>
          </a:xfrm>
          <a:prstGeom prst="rect">
            <a:avLst/>
          </a:prstGeom>
        </p:spPr>
      </p:pic>
      <p:sp>
        <p:nvSpPr>
          <p:cNvPr id="116" name="textbox 116"/>
          <p:cNvSpPr/>
          <p:nvPr/>
        </p:nvSpPr>
        <p:spPr>
          <a:xfrm>
            <a:off x="4615941" y="0"/>
            <a:ext cx="2139314" cy="1073785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6355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系统架构</a:t>
            </a:r>
            <a:endParaRPr sz="2400" dirty="0"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118" name="textbox 118"/>
          <p:cNvSpPr/>
          <p:nvPr/>
        </p:nvSpPr>
        <p:spPr>
          <a:xfrm>
            <a:off x="685125" y="1467369"/>
            <a:ext cx="4949865" cy="85291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基座</a:t>
            </a:r>
            <a:r>
              <a:rPr lang="en-US" altLang="zh-CN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OS</a:t>
            </a: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 </a:t>
            </a:r>
            <a:r>
              <a:rPr lang="en-US" altLang="zh-CN" sz="3600" b="1" kern="0" spc="80" dirty="0" err="1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ArceOS</a:t>
            </a:r>
            <a:endParaRPr sz="3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0" name="textbox 12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122" name="textbox 122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24" name="textbox 12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126" name="textbox 126"/>
          <p:cNvSpPr/>
          <p:nvPr/>
        </p:nvSpPr>
        <p:spPr>
          <a:xfrm>
            <a:off x="14705330" y="419100"/>
            <a:ext cx="130492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128" name="textbox 12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FBCF01E-6C1A-4A5B-AC66-55C9A8A17DEC}"/>
              </a:ext>
            </a:extLst>
          </p:cNvPr>
          <p:cNvSpPr txBox="1"/>
          <p:nvPr/>
        </p:nvSpPr>
        <p:spPr>
          <a:xfrm>
            <a:off x="11016740" y="4075971"/>
            <a:ext cx="725221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32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宋体" panose="02010600030101010101" pitchFamily="2" charset="-122"/>
              </a:rPr>
              <a:t>传统宏内核将功能集成在单一内核空间中，具有较高通用性，但可维护性和可扩展性较差，相比之下，单内核将应用程序与最小内核功能编译为单一镜像，显著降低了资源占用和攻击面</a:t>
            </a:r>
          </a:p>
          <a:p>
            <a:endParaRPr lang="zh-CN" altLang="en-US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71DF8776-30C3-49B6-A78E-27E2B2B9D1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720" y="3083248"/>
            <a:ext cx="9991600" cy="50434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3278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 108"/>
          <p:cNvSpPr/>
          <p:nvPr/>
        </p:nvSpPr>
        <p:spPr>
          <a:xfrm>
            <a:off x="0" y="0"/>
            <a:ext cx="18268950" cy="10228798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12" name="rect 112"/>
          <p:cNvSpPr/>
          <p:nvPr/>
        </p:nvSpPr>
        <p:spPr>
          <a:xfrm>
            <a:off x="0" y="0"/>
            <a:ext cx="18288000" cy="1247131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14" name="picture 1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19417" y="151447"/>
            <a:ext cx="3790314" cy="918273"/>
          </a:xfrm>
          <a:prstGeom prst="rect">
            <a:avLst/>
          </a:prstGeom>
        </p:spPr>
      </p:pic>
      <p:sp>
        <p:nvSpPr>
          <p:cNvPr id="116" name="textbox 116"/>
          <p:cNvSpPr/>
          <p:nvPr/>
        </p:nvSpPr>
        <p:spPr>
          <a:xfrm>
            <a:off x="4615941" y="0"/>
            <a:ext cx="2139314" cy="1073785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6355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系统架构</a:t>
            </a:r>
            <a:endParaRPr sz="2400" dirty="0"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118" name="textbox 118"/>
          <p:cNvSpPr/>
          <p:nvPr/>
        </p:nvSpPr>
        <p:spPr>
          <a:xfrm>
            <a:off x="685125" y="1467369"/>
            <a:ext cx="4949865" cy="85291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基座</a:t>
            </a:r>
            <a:r>
              <a:rPr lang="en-US" altLang="zh-CN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OS</a:t>
            </a: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： </a:t>
            </a:r>
            <a:r>
              <a:rPr lang="en-US" altLang="zh-CN" sz="3600" b="1" kern="0" spc="80" dirty="0" err="1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ArceOS</a:t>
            </a:r>
            <a:endParaRPr sz="3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0" name="textbox 12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122" name="textbox 122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24" name="textbox 12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126" name="textbox 126"/>
          <p:cNvSpPr/>
          <p:nvPr/>
        </p:nvSpPr>
        <p:spPr>
          <a:xfrm>
            <a:off x="14705330" y="419100"/>
            <a:ext cx="130492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128" name="textbox 12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FBCF01E-6C1A-4A5B-AC66-55C9A8A17DEC}"/>
              </a:ext>
            </a:extLst>
          </p:cNvPr>
          <p:cNvSpPr txBox="1"/>
          <p:nvPr/>
        </p:nvSpPr>
        <p:spPr>
          <a:xfrm>
            <a:off x="685125" y="4155604"/>
            <a:ext cx="892216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err="1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ArceOS</a:t>
            </a:r>
            <a:r>
              <a:rPr lang="en-US" altLang="zh-CN" sz="3200" dirty="0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zh-CN" altLang="en-US" sz="32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宋体" panose="02010600030101010101" pitchFamily="2" charset="-122"/>
              </a:rPr>
              <a:t>是典型的组件化操作系统，采用模块化设计，将操作系统功能拆分为可重用的组件，允许开发者根据特定场景需求灵活组合功能模块，同时，通过硬件抽象层的设计，其可运行在</a:t>
            </a:r>
            <a:r>
              <a:rPr lang="en-US" altLang="zh-CN" sz="32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RiscV</a:t>
            </a:r>
            <a:r>
              <a:rPr lang="zh-CN" altLang="en-US" sz="3200" dirty="0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</a:t>
            </a:r>
            <a:r>
              <a:rPr lang="en-US" altLang="zh-CN" sz="32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L</a:t>
            </a:r>
            <a:r>
              <a:rPr lang="en-US" altLang="zh-CN" sz="3200" dirty="0" err="1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oongarch</a:t>
            </a:r>
            <a:r>
              <a:rPr lang="zh-CN" altLang="en-US" sz="3200" dirty="0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</a:t>
            </a:r>
            <a:r>
              <a:rPr lang="en-US" altLang="zh-CN" sz="3200" dirty="0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x86</a:t>
            </a:r>
            <a:r>
              <a:rPr lang="zh-CN" altLang="en-US" sz="3200" dirty="0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</a:t>
            </a:r>
            <a:r>
              <a:rPr lang="en-US" altLang="zh-CN" sz="32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en-US" altLang="zh-CN" sz="3200" dirty="0" err="1">
                <a:effectLst/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arch</a:t>
            </a:r>
            <a:r>
              <a:rPr lang="zh-CN" altLang="en-US" sz="32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宋体" panose="02010600030101010101" pitchFamily="2" charset="-122"/>
              </a:rPr>
              <a:t>四种架构之上。</a:t>
            </a:r>
            <a:endParaRPr lang="zh-CN" altLang="en-US" sz="2000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A992BF74-50A2-492A-AF57-1E9BBB541D4D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5579" y="1247131"/>
            <a:ext cx="6867296" cy="898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539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 108"/>
          <p:cNvSpPr/>
          <p:nvPr/>
        </p:nvSpPr>
        <p:spPr>
          <a:xfrm>
            <a:off x="0" y="0"/>
            <a:ext cx="18268950" cy="10228798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12" name="rect 112"/>
          <p:cNvSpPr/>
          <p:nvPr/>
        </p:nvSpPr>
        <p:spPr>
          <a:xfrm>
            <a:off x="0" y="0"/>
            <a:ext cx="18288000" cy="1247131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14" name="picture 1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19417" y="151447"/>
            <a:ext cx="3790314" cy="918273"/>
          </a:xfrm>
          <a:prstGeom prst="rect">
            <a:avLst/>
          </a:prstGeom>
        </p:spPr>
      </p:pic>
      <p:sp>
        <p:nvSpPr>
          <p:cNvPr id="116" name="textbox 116"/>
          <p:cNvSpPr/>
          <p:nvPr/>
        </p:nvSpPr>
        <p:spPr>
          <a:xfrm>
            <a:off x="4615941" y="0"/>
            <a:ext cx="2139314" cy="1073785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6355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系统架构</a:t>
            </a:r>
            <a:endParaRPr sz="2400" dirty="0"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118" name="textbox 118"/>
          <p:cNvSpPr/>
          <p:nvPr/>
        </p:nvSpPr>
        <p:spPr>
          <a:xfrm>
            <a:off x="685125" y="1467369"/>
            <a:ext cx="4949865" cy="85291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宏内核扩展：</a:t>
            </a:r>
            <a:r>
              <a:rPr lang="en-US" altLang="zh-CN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StarryX</a:t>
            </a:r>
            <a:endParaRPr sz="3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0" name="textbox 12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122" name="textbox 122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24" name="textbox 12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126" name="textbox 126"/>
          <p:cNvSpPr/>
          <p:nvPr/>
        </p:nvSpPr>
        <p:spPr>
          <a:xfrm>
            <a:off x="14705330" y="419100"/>
            <a:ext cx="130492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128" name="textbox 12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12" name="图片 11" descr="structure">
            <a:extLst>
              <a:ext uri="{FF2B5EF4-FFF2-40B4-BE49-F238E27FC236}">
                <a16:creationId xmlns:a16="http://schemas.microsoft.com/office/drawing/2014/main" id="{F2482750-4482-40A2-A1C9-C4C81C72074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9047" y="1188720"/>
            <a:ext cx="6493828" cy="8974145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3EF8369A-F3AA-407E-B96A-FE7A33E08941}"/>
              </a:ext>
            </a:extLst>
          </p:cNvPr>
          <p:cNvSpPr txBox="1"/>
          <p:nvPr/>
        </p:nvSpPr>
        <p:spPr>
          <a:xfrm>
            <a:off x="514350" y="4054484"/>
            <a:ext cx="992862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StarryX</a:t>
            </a:r>
            <a:r>
              <a:rPr lang="zh-CN" altLang="en-US" sz="3200" dirty="0"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  <a:r>
              <a:rPr lang="en-US" altLang="zh-CN" sz="32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ArceOS</a:t>
            </a:r>
            <a:r>
              <a:rPr lang="zh-CN" altLang="en-US" sz="3200" dirty="0">
                <a:latin typeface="楷体" panose="02010609060101010101" pitchFamily="49" charset="-122"/>
                <a:ea typeface="楷体" panose="02010609060101010101" pitchFamily="49" charset="-122"/>
              </a:rPr>
              <a:t>的组件化优势与宏内核的高性能特性相结合，通过在</a:t>
            </a:r>
            <a:r>
              <a:rPr lang="en-US" altLang="zh-CN" sz="3200" dirty="0" err="1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ArceOS</a:t>
            </a:r>
            <a:r>
              <a:rPr lang="zh-CN" altLang="en-US" sz="3200" dirty="0">
                <a:latin typeface="楷体" panose="02010609060101010101" pitchFamily="49" charset="-122"/>
                <a:ea typeface="楷体" panose="02010609060101010101" pitchFamily="49" charset="-122"/>
              </a:rPr>
              <a:t>的单内核架构上扩展实现宏内核的任务管理、内存管理等核心功能，构建一个高效、灵活且支持</a:t>
            </a:r>
            <a:r>
              <a:rPr lang="zh-CN" altLang="en-US" sz="32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32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Linux </a:t>
            </a:r>
            <a:r>
              <a:rPr lang="zh-CN" altLang="en-US" sz="3200" dirty="0">
                <a:latin typeface="楷体" panose="02010609060101010101" pitchFamily="49" charset="-122"/>
                <a:ea typeface="楷体" panose="02010609060101010101" pitchFamily="49" charset="-122"/>
              </a:rPr>
              <a:t>应用兼容的组件化宏内核操作系统，我们将</a:t>
            </a:r>
            <a:r>
              <a:rPr lang="en-US" altLang="zh-CN" sz="32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StarryX</a:t>
            </a:r>
            <a:r>
              <a:rPr lang="zh-CN" altLang="en-US" sz="3200" dirty="0">
                <a:latin typeface="楷体" panose="02010609060101010101" pitchFamily="49" charset="-122"/>
                <a:ea typeface="楷体" panose="02010609060101010101" pitchFamily="49" charset="-122"/>
              </a:rPr>
              <a:t>的实现划分为三大部分：</a:t>
            </a:r>
            <a:r>
              <a:rPr lang="en-US" altLang="zh-CN" sz="3200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Core , API , Modules</a:t>
            </a:r>
            <a:r>
              <a:rPr lang="en-US" altLang="zh-CN" sz="3200" dirty="0">
                <a:latin typeface="楷体" panose="02010609060101010101" pitchFamily="49" charset="-122"/>
                <a:ea typeface="楷体" panose="02010609060101010101" pitchFamily="49" charset="-122"/>
              </a:rPr>
              <a:t>, </a:t>
            </a:r>
            <a:r>
              <a:rPr lang="zh-CN" altLang="en-US" sz="3200" dirty="0">
                <a:latin typeface="楷体" panose="02010609060101010101" pitchFamily="49" charset="-122"/>
                <a:ea typeface="楷体" panose="02010609060101010101" pitchFamily="49" charset="-122"/>
              </a:rPr>
              <a:t>我们将分别介绍</a:t>
            </a:r>
          </a:p>
        </p:txBody>
      </p:sp>
    </p:spTree>
    <p:extLst>
      <p:ext uri="{BB962C8B-B14F-4D97-AF65-F5344CB8AC3E}">
        <p14:creationId xmlns:p14="http://schemas.microsoft.com/office/powerpoint/2010/main" val="994895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 108"/>
          <p:cNvSpPr/>
          <p:nvPr/>
        </p:nvSpPr>
        <p:spPr>
          <a:xfrm>
            <a:off x="0" y="0"/>
            <a:ext cx="18268950" cy="10228798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12" name="rect 112"/>
          <p:cNvSpPr/>
          <p:nvPr/>
        </p:nvSpPr>
        <p:spPr>
          <a:xfrm>
            <a:off x="0" y="0"/>
            <a:ext cx="18288000" cy="1247131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14" name="picture 1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19417" y="151447"/>
            <a:ext cx="3790314" cy="918273"/>
          </a:xfrm>
          <a:prstGeom prst="rect">
            <a:avLst/>
          </a:prstGeom>
        </p:spPr>
      </p:pic>
      <p:sp>
        <p:nvSpPr>
          <p:cNvPr id="116" name="textbox 116"/>
          <p:cNvSpPr/>
          <p:nvPr/>
        </p:nvSpPr>
        <p:spPr>
          <a:xfrm>
            <a:off x="4615941" y="0"/>
            <a:ext cx="2139314" cy="1073785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6355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系统架构</a:t>
            </a:r>
            <a:endParaRPr sz="2400" dirty="0"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118" name="textbox 118"/>
          <p:cNvSpPr/>
          <p:nvPr/>
        </p:nvSpPr>
        <p:spPr>
          <a:xfrm>
            <a:off x="685125" y="1467369"/>
            <a:ext cx="4949865" cy="85291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宏内核实现：</a:t>
            </a:r>
            <a:endParaRPr lang="en-US" altLang="zh-CN" sz="3600" b="1" kern="0" spc="80" dirty="0">
              <a:solidFill>
                <a:srgbClr val="000000">
                  <a:alpha val="100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en-US" altLang="zh-CN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StarryX Core</a:t>
            </a:r>
            <a:endParaRPr sz="3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0" name="textbox 12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122" name="textbox 122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24" name="textbox 12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126" name="textbox 126"/>
          <p:cNvSpPr/>
          <p:nvPr/>
        </p:nvSpPr>
        <p:spPr>
          <a:xfrm>
            <a:off x="14705330" y="419100"/>
            <a:ext cx="130492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128" name="textbox 12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B6B7785D-38FF-4D82-8D82-EB1B737C555E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0115" y="2143053"/>
            <a:ext cx="11625660" cy="5823658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DE67A45B-89A9-49F5-92B3-1806AC91D4F5}"/>
              </a:ext>
            </a:extLst>
          </p:cNvPr>
          <p:cNvSpPr txBox="1"/>
          <p:nvPr/>
        </p:nvSpPr>
        <p:spPr>
          <a:xfrm>
            <a:off x="467853" y="3934838"/>
            <a:ext cx="5217745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StarryX Core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通过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Modules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提供的功能实现宏内核核心逻辑，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VirtFS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通过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vfs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节口实现宏内核伪文件系统，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Task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通过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axtask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提供的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taskext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接口实现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process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进程管理，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Mem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加载用户程序并管理映射空间，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time</a:t>
            </a:r>
            <a:r>
              <a:rPr lang="zh-CN" altLang="zh-CN" sz="3200" kern="100" dirty="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实现时间管理</a:t>
            </a:r>
          </a:p>
        </p:txBody>
      </p:sp>
    </p:spTree>
    <p:extLst>
      <p:ext uri="{BB962C8B-B14F-4D97-AF65-F5344CB8AC3E}">
        <p14:creationId xmlns:p14="http://schemas.microsoft.com/office/powerpoint/2010/main" val="428877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 108"/>
          <p:cNvSpPr/>
          <p:nvPr/>
        </p:nvSpPr>
        <p:spPr>
          <a:xfrm>
            <a:off x="0" y="0"/>
            <a:ext cx="18268950" cy="10228798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12" name="rect 112"/>
          <p:cNvSpPr/>
          <p:nvPr/>
        </p:nvSpPr>
        <p:spPr>
          <a:xfrm>
            <a:off x="0" y="0"/>
            <a:ext cx="18288000" cy="1247131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114" name="picture 1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19417" y="151447"/>
            <a:ext cx="3790314" cy="918273"/>
          </a:xfrm>
          <a:prstGeom prst="rect">
            <a:avLst/>
          </a:prstGeom>
        </p:spPr>
      </p:pic>
      <p:sp>
        <p:nvSpPr>
          <p:cNvPr id="116" name="textbox 116"/>
          <p:cNvSpPr/>
          <p:nvPr/>
        </p:nvSpPr>
        <p:spPr>
          <a:xfrm>
            <a:off x="4615941" y="0"/>
            <a:ext cx="2139314" cy="1073785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6355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系统架构</a:t>
            </a:r>
            <a:endParaRPr sz="2400" dirty="0"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118" name="textbox 118"/>
          <p:cNvSpPr/>
          <p:nvPr/>
        </p:nvSpPr>
        <p:spPr>
          <a:xfrm>
            <a:off x="685125" y="1467369"/>
            <a:ext cx="4949865" cy="852911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9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zh-CN" altLang="en-US" sz="3600" b="1" kern="0" spc="80" dirty="0">
                <a:solidFill>
                  <a:srgbClr val="000000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宏内核实现：</a:t>
            </a:r>
            <a:endParaRPr lang="en-US" altLang="zh-CN" sz="3600" b="1" kern="0" spc="80" dirty="0">
              <a:solidFill>
                <a:srgbClr val="000000">
                  <a:alpha val="100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  <a:cs typeface="微软雅黑" panose="020B0503020204020204" charset="-122"/>
            </a:endParaRPr>
          </a:p>
          <a:p>
            <a:pPr marL="12700" algn="l" rtl="0" eaLnBrk="0">
              <a:lnSpc>
                <a:spcPct val="91000"/>
              </a:lnSpc>
            </a:pPr>
            <a:r>
              <a:rPr lang="en-US" altLang="zh-CN" sz="3600" b="1" kern="0" spc="80" dirty="0">
                <a:solidFill>
                  <a:srgbClr val="000000">
                    <a:alpha val="100000"/>
                  </a:srgbClr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StarryX API</a:t>
            </a:r>
            <a:endParaRPr sz="3600" dirty="0"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0" name="textbox 12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122" name="textbox 122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24" name="textbox 12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126" name="textbox 126"/>
          <p:cNvSpPr/>
          <p:nvPr/>
        </p:nvSpPr>
        <p:spPr>
          <a:xfrm>
            <a:off x="14705330" y="419100"/>
            <a:ext cx="130492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128" name="textbox 12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E67A45B-89A9-49F5-92B3-1806AC91D4F5}"/>
              </a:ext>
            </a:extLst>
          </p:cNvPr>
          <p:cNvSpPr txBox="1"/>
          <p:nvPr/>
        </p:nvSpPr>
        <p:spPr>
          <a:xfrm>
            <a:off x="685125" y="3946268"/>
            <a:ext cx="8150367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API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通过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Core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Modules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实现标准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POSIX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接口，其内部划分为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syscall</a:t>
            </a:r>
            <a:r>
              <a:rPr lang="zh-CN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backend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utils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三个模块，其中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syscall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模块封装了标准的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POSIX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接口，</a:t>
            </a:r>
            <a:r>
              <a:rPr lang="en-US" altLang="zh-CN" sz="3200" kern="100" dirty="0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backend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模块调用外部组件为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syscall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的实现提供支持，</a:t>
            </a:r>
            <a:r>
              <a:rPr lang="en-US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utils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模块调用外部模块并封装给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beckend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syscall</a:t>
            </a:r>
            <a:r>
              <a:rPr lang="zh-CN" altLang="zh-CN" sz="3200" kern="100" dirty="0">
                <a:effectLst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复用，从而保证了模块的层次清晰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91085E37-60BA-4673-A06A-F4FC221D7D6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2883" y="1247131"/>
            <a:ext cx="7215188" cy="87312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68290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 130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32" name="rect 132"/>
          <p:cNvSpPr/>
          <p:nvPr/>
        </p:nvSpPr>
        <p:spPr>
          <a:xfrm>
            <a:off x="7" y="0"/>
            <a:ext cx="18287992" cy="5604636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34" name="textbox 134"/>
          <p:cNvSpPr/>
          <p:nvPr/>
        </p:nvSpPr>
        <p:spPr>
          <a:xfrm>
            <a:off x="5695010" y="7169847"/>
            <a:ext cx="7833994" cy="1121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8100" b="1" kern="0" spc="680" dirty="0">
                <a:solidFill>
                  <a:srgbClr val="0070C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</a:t>
            </a:r>
            <a:r>
              <a:rPr sz="8100" b="1" kern="0" spc="680" dirty="0">
                <a:solidFill>
                  <a:srgbClr val="0070C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81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136" name="picture 1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grpSp>
        <p:nvGrpSpPr>
          <p:cNvPr id="22" name="group 22"/>
          <p:cNvGrpSpPr/>
          <p:nvPr/>
        </p:nvGrpSpPr>
        <p:grpSpPr>
          <a:xfrm rot="21600000">
            <a:off x="7989470" y="4572979"/>
            <a:ext cx="2312692" cy="2057875"/>
            <a:chOff x="0" y="0"/>
            <a:chExt cx="2312692" cy="2057875"/>
          </a:xfrm>
        </p:grpSpPr>
        <p:pic>
          <p:nvPicPr>
            <p:cNvPr id="138" name="picture 13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2312692" cy="2057875"/>
            </a:xfrm>
            <a:prstGeom prst="rect">
              <a:avLst/>
            </a:prstGeom>
          </p:spPr>
        </p:pic>
        <p:sp>
          <p:nvSpPr>
            <p:cNvPr id="140" name="textbox 140"/>
            <p:cNvSpPr/>
            <p:nvPr/>
          </p:nvSpPr>
          <p:spPr>
            <a:xfrm>
              <a:off x="-12700" y="-12700"/>
              <a:ext cx="2338704" cy="2083435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1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7000"/>
                </a:lnSpc>
              </a:pPr>
              <a:endParaRPr sz="1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391795" algn="l" rtl="0" eaLnBrk="0">
                <a:lnSpc>
                  <a:spcPct val="89000"/>
                </a:lnSpc>
              </a:pPr>
              <a:r>
                <a:rPr sz="3600" b="1" kern="0" spc="-50" dirty="0">
                  <a:solidFill>
                    <a:srgbClr val="007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Part.02</a:t>
              </a:r>
              <a:endParaRPr sz="36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pic>
        <p:nvPicPr>
          <p:cNvPr id="142" name="picture 14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196137" y="168973"/>
            <a:ext cx="2938940" cy="6170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 144"/>
          <p:cNvSpPr/>
          <p:nvPr/>
        </p:nvSpPr>
        <p:spPr>
          <a:xfrm>
            <a:off x="0" y="17998"/>
            <a:ext cx="18288000" cy="10268999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48" name="rect 148"/>
          <p:cNvSpPr/>
          <p:nvPr/>
        </p:nvSpPr>
        <p:spPr>
          <a:xfrm>
            <a:off x="0" y="0"/>
            <a:ext cx="18288000" cy="1224268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50" name="textbox 150"/>
          <p:cNvSpPr/>
          <p:nvPr/>
        </p:nvSpPr>
        <p:spPr>
          <a:xfrm>
            <a:off x="905774" y="5988228"/>
            <a:ext cx="1650682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3200" b="1" kern="0" spc="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                                                            </a:t>
            </a:r>
            <a:r>
              <a:rPr sz="3200" b="1" kern="0" spc="-1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</a:t>
            </a:r>
            <a:endParaRPr sz="3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2" name="textbox 152"/>
          <p:cNvSpPr/>
          <p:nvPr/>
        </p:nvSpPr>
        <p:spPr>
          <a:xfrm>
            <a:off x="3300272" y="9263583"/>
            <a:ext cx="11694159" cy="57276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100000"/>
              </a:lnSpc>
            </a:pPr>
            <a:endParaRPr sz="3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4" name="picture 1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156" name="textbox 156"/>
          <p:cNvSpPr/>
          <p:nvPr/>
        </p:nvSpPr>
        <p:spPr>
          <a:xfrm>
            <a:off x="409296" y="1507661"/>
            <a:ext cx="684466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endParaRPr sz="3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8" name="textbox 158"/>
          <p:cNvSpPr/>
          <p:nvPr/>
        </p:nvSpPr>
        <p:spPr>
          <a:xfrm>
            <a:off x="7087743" y="0"/>
            <a:ext cx="2236470" cy="1071244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4295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0" name="textbox 16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内存管理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2" name="textbox 16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4" name="textbox 16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文件系统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6" name="textbox 166"/>
          <p:cNvSpPr/>
          <p:nvPr/>
        </p:nvSpPr>
        <p:spPr>
          <a:xfrm>
            <a:off x="14705330" y="419100"/>
            <a:ext cx="128333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网络模块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8" name="textbox 16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312400" y="3706972"/>
            <a:ext cx="7858642" cy="234182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StarryX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主要通过调用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-US" altLang="zh-CN" sz="2800" b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ArceOS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提供的任务创建接口来创建新的内核任务调度实体，实现了完整的进程层次结构</a:t>
            </a:r>
          </a:p>
        </p:txBody>
      </p:sp>
      <p:pic>
        <p:nvPicPr>
          <p:cNvPr id="11" name="图片 1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4540" y="3129915"/>
            <a:ext cx="8783320" cy="581723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文本框 2"/>
          <p:cNvSpPr txBox="1"/>
          <p:nvPr/>
        </p:nvSpPr>
        <p:spPr>
          <a:xfrm>
            <a:off x="764540" y="177800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进程管理层次结构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E6C246-5823-4B73-83E4-5E163BA65FF9}"/>
              </a:ext>
            </a:extLst>
          </p:cNvPr>
          <p:cNvSpPr txBox="1"/>
          <p:nvPr/>
        </p:nvSpPr>
        <p:spPr>
          <a:xfrm>
            <a:off x="10312400" y="5800328"/>
            <a:ext cx="7624726" cy="33422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 b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AxTask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提供了</a:t>
            </a:r>
            <a:r>
              <a:rPr lang="en-US" altLang="zh-CN" sz="2800" b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TaskExt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接口供其它内核形态复用，</a:t>
            </a:r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Starry Core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将</a:t>
            </a:r>
            <a:r>
              <a:rPr lang="en-US" altLang="zh-CN" sz="2800" b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TaskExt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接口与</a:t>
            </a:r>
            <a:r>
              <a:rPr lang="en-US" altLang="zh-CN" sz="2800" b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Axprocess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提供的</a:t>
            </a:r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Thread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接口结合，使用</a:t>
            </a:r>
            <a:r>
              <a:rPr lang="en-US" altLang="zh-CN" sz="2800" b="1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Axprocess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Data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接口实现宏内核进程管理需要的必要字段，为</a:t>
            </a:r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POSIX</a:t>
            </a:r>
            <a:r>
              <a:rPr lang="zh-CN" altLang="en-US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接口实现提供支持</a:t>
            </a:r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 144"/>
          <p:cNvSpPr/>
          <p:nvPr/>
        </p:nvSpPr>
        <p:spPr>
          <a:xfrm>
            <a:off x="0" y="17998"/>
            <a:ext cx="18288000" cy="10268999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48" name="rect 148"/>
          <p:cNvSpPr/>
          <p:nvPr/>
        </p:nvSpPr>
        <p:spPr>
          <a:xfrm>
            <a:off x="0" y="0"/>
            <a:ext cx="18288000" cy="1224268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50" name="textbox 150"/>
          <p:cNvSpPr/>
          <p:nvPr/>
        </p:nvSpPr>
        <p:spPr>
          <a:xfrm>
            <a:off x="905774" y="5988228"/>
            <a:ext cx="1650682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3200" b="1" kern="0" spc="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                                                            </a:t>
            </a:r>
            <a:r>
              <a:rPr sz="3200" b="1" kern="0" spc="-1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</a:t>
            </a:r>
            <a:endParaRPr sz="3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2" name="textbox 152"/>
          <p:cNvSpPr/>
          <p:nvPr/>
        </p:nvSpPr>
        <p:spPr>
          <a:xfrm>
            <a:off x="3300272" y="9263583"/>
            <a:ext cx="11694159" cy="57276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100000"/>
              </a:lnSpc>
            </a:pPr>
            <a:endParaRPr sz="3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4" name="picture 1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156" name="textbox 156"/>
          <p:cNvSpPr/>
          <p:nvPr/>
        </p:nvSpPr>
        <p:spPr>
          <a:xfrm>
            <a:off x="905510" y="1652332"/>
            <a:ext cx="684466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3600" b="1" dirty="0"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  <a:p>
            <a:pPr marL="584200" indent="-571500" algn="l" rtl="0" eaLnBrk="0">
              <a:lnSpc>
                <a:spcPct val="89000"/>
              </a:lnSpc>
              <a:buFont typeface="Wingdings" panose="05000000000000000000" charset="0"/>
              <a:buChar char="Ø"/>
            </a:pPr>
            <a:r>
              <a:rPr lang="zh-CN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进程调度</a:t>
            </a:r>
          </a:p>
        </p:txBody>
      </p:sp>
      <p:sp>
        <p:nvSpPr>
          <p:cNvPr id="158" name="textbox 158"/>
          <p:cNvSpPr/>
          <p:nvPr/>
        </p:nvSpPr>
        <p:spPr>
          <a:xfrm>
            <a:off x="7087743" y="0"/>
            <a:ext cx="2236470" cy="1071244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4295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0" name="textbox 16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内存管理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2" name="textbox 16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4" name="textbox 16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文件系统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6" name="textbox 166"/>
          <p:cNvSpPr/>
          <p:nvPr/>
        </p:nvSpPr>
        <p:spPr>
          <a:xfrm>
            <a:off x="14705330" y="419100"/>
            <a:ext cx="128333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网络模块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8" name="textbox 16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05510" y="3609340"/>
            <a:ext cx="666242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StarryX 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通过底层</a:t>
            </a:r>
            <a:r>
              <a:rPr lang="en-US" altLang="zh-CN" sz="2800" b="1" dirty="0" err="1">
                <a:latin typeface="华文楷体" panose="02010600040101010101" pitchFamily="2" charset="-122"/>
                <a:ea typeface="华文楷体" panose="02010600040101010101" pitchFamily="2" charset="-122"/>
              </a:rPr>
              <a:t>ArceOS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支持的多种调度算法实现进程和，另外我们还实现了动态调度器，为宏内核的灵活调度提供支持：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2800" b="1" dirty="0">
                <a:ln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FIFO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：先进先出（默认）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RR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：轮转调度（时间片轮转）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CFS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：完全公平调度器</a:t>
            </a:r>
          </a:p>
          <a:p>
            <a:endParaRPr lang="en-US" altLang="zh-CN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DYNAMIC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：动态调度器</a:t>
            </a:r>
          </a:p>
        </p:txBody>
      </p:sp>
      <p:pic>
        <p:nvPicPr>
          <p:cNvPr id="13" name="图片 6" descr="IMG_2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7785" y="2811780"/>
            <a:ext cx="8464550" cy="631888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 144"/>
          <p:cNvSpPr/>
          <p:nvPr/>
        </p:nvSpPr>
        <p:spPr>
          <a:xfrm>
            <a:off x="0" y="17998"/>
            <a:ext cx="18288000" cy="10268999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48" name="rect 148"/>
          <p:cNvSpPr/>
          <p:nvPr/>
        </p:nvSpPr>
        <p:spPr>
          <a:xfrm>
            <a:off x="0" y="0"/>
            <a:ext cx="18288000" cy="1224268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50" name="textbox 150"/>
          <p:cNvSpPr/>
          <p:nvPr/>
        </p:nvSpPr>
        <p:spPr>
          <a:xfrm>
            <a:off x="905774" y="5988228"/>
            <a:ext cx="1650682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3200" b="1" kern="0" spc="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                                                            </a:t>
            </a:r>
            <a:r>
              <a:rPr sz="3200" b="1" kern="0" spc="-1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</a:t>
            </a:r>
            <a:endParaRPr sz="3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2" name="textbox 152"/>
          <p:cNvSpPr/>
          <p:nvPr/>
        </p:nvSpPr>
        <p:spPr>
          <a:xfrm>
            <a:off x="3300272" y="9263583"/>
            <a:ext cx="11694159" cy="57276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100000"/>
              </a:lnSpc>
            </a:pPr>
            <a:endParaRPr sz="3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4" name="picture 1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156" name="textbox 156"/>
          <p:cNvSpPr/>
          <p:nvPr/>
        </p:nvSpPr>
        <p:spPr>
          <a:xfrm>
            <a:off x="1116012" y="1495636"/>
            <a:ext cx="6844665" cy="1618296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3600" b="1" dirty="0">
              <a:latin typeface="微软雅黑" panose="020B0503020204020204" charset="-122"/>
              <a:ea typeface="微软雅黑" panose="020B0503020204020204" charset="-122"/>
              <a:cs typeface="Arial" panose="020B0604020202020204"/>
            </a:endParaRPr>
          </a:p>
          <a:p>
            <a:pPr marL="584200" indent="-571500" algn="l" rtl="0" eaLnBrk="0">
              <a:lnSpc>
                <a:spcPct val="89000"/>
              </a:lnSpc>
              <a:buFont typeface="Wingdings" panose="05000000000000000000" charset="0"/>
              <a:buChar char="Ø"/>
            </a:pPr>
            <a:r>
              <a:rPr lang="zh-CN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进程通信</a:t>
            </a:r>
          </a:p>
        </p:txBody>
      </p:sp>
      <p:sp>
        <p:nvSpPr>
          <p:cNvPr id="158" name="textbox 158"/>
          <p:cNvSpPr/>
          <p:nvPr/>
        </p:nvSpPr>
        <p:spPr>
          <a:xfrm>
            <a:off x="7087743" y="0"/>
            <a:ext cx="2236470" cy="1071244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4295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0" name="textbox 16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内存管理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2" name="textbox 16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4" name="textbox 16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文件系统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6" name="textbox 166"/>
          <p:cNvSpPr/>
          <p:nvPr/>
        </p:nvSpPr>
        <p:spPr>
          <a:xfrm>
            <a:off x="14705330" y="419100"/>
            <a:ext cx="128333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网络模块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8" name="textbox 16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3" name="图片 1" descr="IMG_2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7643" y="1737673"/>
            <a:ext cx="6921500" cy="61315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1116012" y="3245370"/>
            <a:ext cx="784034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Starry X 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完整实现了经典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UNIX System V IPC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机制，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包括消息队列、信号量和共享内存。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00100" y="8468995"/>
            <a:ext cx="16312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通过命名空间管理 </a:t>
            </a:r>
            <a:r>
              <a:rPr lang="en-US" altLang="zh-CN" sz="2800" b="1" dirty="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IPC_MANAGER: </a:t>
            </a:r>
            <a:r>
              <a:rPr lang="en-US" altLang="zh-CN" sz="2800" b="1" dirty="0" err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ResArc</a:t>
            </a:r>
            <a:r>
              <a:rPr lang="en-US" altLang="zh-CN" sz="2800" b="1" dirty="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&lt;Mutex&lt;</a:t>
            </a:r>
            <a:r>
              <a:rPr lang="en-US" altLang="zh-CN" sz="2800" b="1" dirty="0" err="1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IpcManager</a:t>
            </a:r>
            <a:r>
              <a:rPr lang="en-US" altLang="zh-CN" sz="2800" b="1" dirty="0">
                <a:ln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&gt;&gt;</a:t>
            </a:r>
            <a:r>
              <a:rPr lang="zh-CN" altLang="en-US" sz="28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，实现线程安全的</a:t>
            </a:r>
            <a:r>
              <a:rPr lang="en-US" altLang="zh-CN" sz="28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 IPC </a:t>
            </a:r>
            <a:r>
              <a:rPr lang="zh-CN" altLang="en-US" sz="28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华文楷体" panose="02010600040101010101" pitchFamily="2" charset="-122"/>
                <a:ea typeface="华文楷体" panose="02010600040101010101" pitchFamily="2" charset="-122"/>
              </a:rPr>
              <a:t>操作调度</a:t>
            </a:r>
            <a:r>
              <a:rPr lang="zh-CN" altLang="en-US" sz="28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 144"/>
          <p:cNvSpPr/>
          <p:nvPr/>
        </p:nvSpPr>
        <p:spPr>
          <a:xfrm>
            <a:off x="0" y="17998"/>
            <a:ext cx="18288000" cy="10268999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48" name="rect 148"/>
          <p:cNvSpPr/>
          <p:nvPr/>
        </p:nvSpPr>
        <p:spPr>
          <a:xfrm>
            <a:off x="0" y="0"/>
            <a:ext cx="18288000" cy="1224268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150" name="textbox 150"/>
          <p:cNvSpPr/>
          <p:nvPr/>
        </p:nvSpPr>
        <p:spPr>
          <a:xfrm>
            <a:off x="905774" y="5988228"/>
            <a:ext cx="1650682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3200" b="1" kern="0" spc="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                                                            </a:t>
            </a:r>
            <a:r>
              <a:rPr sz="3200" b="1" kern="0" spc="-10" dirty="0">
                <a:solidFill>
                  <a:srgbClr val="FF000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</a:t>
            </a:r>
            <a:endParaRPr sz="3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2" name="textbox 152"/>
          <p:cNvSpPr/>
          <p:nvPr/>
        </p:nvSpPr>
        <p:spPr>
          <a:xfrm>
            <a:off x="3300272" y="9263583"/>
            <a:ext cx="11694159" cy="572769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100000"/>
              </a:lnSpc>
            </a:pPr>
            <a:endParaRPr sz="36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4" name="picture 15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156" name="textbox 156"/>
          <p:cNvSpPr/>
          <p:nvPr/>
        </p:nvSpPr>
        <p:spPr>
          <a:xfrm>
            <a:off x="1003021" y="1628311"/>
            <a:ext cx="684466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endParaRPr sz="3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8" name="textbox 158"/>
          <p:cNvSpPr/>
          <p:nvPr/>
        </p:nvSpPr>
        <p:spPr>
          <a:xfrm>
            <a:off x="7087743" y="0"/>
            <a:ext cx="2236470" cy="1071244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141000"/>
              </a:lnSpc>
            </a:pPr>
            <a:endParaRPr sz="10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 rtl="0" eaLnBrk="0">
              <a:lnSpc>
                <a:spcPct val="9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4295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</a:t>
            </a:r>
            <a:r>
              <a:rPr sz="2400" b="1" kern="0" spc="-3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0" name="textbox 160"/>
          <p:cNvSpPr/>
          <p:nvPr/>
        </p:nvSpPr>
        <p:spPr>
          <a:xfrm>
            <a:off x="975669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内存管理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2" name="textbox 16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4" name="textbox 164"/>
          <p:cNvSpPr/>
          <p:nvPr/>
        </p:nvSpPr>
        <p:spPr>
          <a:xfrm>
            <a:off x="12602388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文件系统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6" name="textbox 166"/>
          <p:cNvSpPr/>
          <p:nvPr/>
        </p:nvSpPr>
        <p:spPr>
          <a:xfrm>
            <a:off x="14705330" y="419100"/>
            <a:ext cx="128333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网络模块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168" name="textbox 168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27" name="图片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7290" y="2701925"/>
            <a:ext cx="8218805" cy="581723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文本框 2"/>
          <p:cNvSpPr txBox="1"/>
          <p:nvPr/>
        </p:nvSpPr>
        <p:spPr>
          <a:xfrm>
            <a:off x="805815" y="3853815"/>
            <a:ext cx="6844665" cy="4092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任务在从内核态返回用户态的关键时刻，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会自动跳转到</a:t>
            </a:r>
            <a:r>
              <a:rPr lang="en-US" altLang="zh-CN" sz="3600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check_signals</a:t>
            </a:r>
            <a:r>
              <a:rPr lang="en-US" altLang="zh-CN" sz="36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()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函数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内，检查当前线程和进程是否有需要处理</a:t>
            </a:r>
          </a:p>
          <a:p>
            <a:endParaRPr lang="zh-CN" altLang="en-US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的待处理信号。如果检测到信号，</a:t>
            </a:r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StarryX</a:t>
            </a:r>
          </a:p>
          <a:p>
            <a:endParaRPr lang="en-US" altLang="zh-CN" sz="28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就会启动完整的信号处理流程。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05510" y="196469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信号系统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rect 276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278" name="rect 278"/>
          <p:cNvSpPr/>
          <p:nvPr/>
        </p:nvSpPr>
        <p:spPr>
          <a:xfrm>
            <a:off x="7" y="0"/>
            <a:ext cx="18287992" cy="5604636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280" name="textbox 280"/>
          <p:cNvSpPr/>
          <p:nvPr/>
        </p:nvSpPr>
        <p:spPr>
          <a:xfrm>
            <a:off x="7023057" y="6951121"/>
            <a:ext cx="6565985" cy="1121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8100" b="1" kern="0" spc="750" dirty="0">
                <a:solidFill>
                  <a:srgbClr val="0070C0">
                    <a:alpha val="100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</a:rPr>
              <a:t>内存管理</a:t>
            </a:r>
          </a:p>
        </p:txBody>
      </p:sp>
      <p:pic>
        <p:nvPicPr>
          <p:cNvPr id="282" name="picture 28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 rot="21600000">
            <a:off x="7981950" y="4566284"/>
            <a:ext cx="2324100" cy="2068322"/>
            <a:chOff x="0" y="0"/>
            <a:chExt cx="2324100" cy="2068322"/>
          </a:xfrm>
        </p:grpSpPr>
        <p:pic>
          <p:nvPicPr>
            <p:cNvPr id="284" name="picture 28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2324100" cy="2068322"/>
            </a:xfrm>
            <a:prstGeom prst="rect">
              <a:avLst/>
            </a:prstGeom>
          </p:spPr>
        </p:pic>
        <p:sp>
          <p:nvSpPr>
            <p:cNvPr id="286" name="textbox 286"/>
            <p:cNvSpPr/>
            <p:nvPr/>
          </p:nvSpPr>
          <p:spPr>
            <a:xfrm>
              <a:off x="-12700" y="-12700"/>
              <a:ext cx="2349500" cy="209422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403860" algn="l" rtl="0" eaLnBrk="0">
                <a:lnSpc>
                  <a:spcPct val="89000"/>
                </a:lnSpc>
                <a:spcBef>
                  <a:spcPts val="0"/>
                </a:spcBef>
              </a:pPr>
              <a:r>
                <a:rPr sz="3600" kern="0" spc="-60" dirty="0">
                  <a:solidFill>
                    <a:srgbClr val="007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Part.03</a:t>
              </a:r>
              <a:endParaRPr sz="36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pic>
        <p:nvPicPr>
          <p:cNvPr id="288" name="picture 28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196137" y="168973"/>
            <a:ext cx="2938940" cy="61702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 290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296" name="picture 29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12700"/>
            <a:ext cx="18288000" cy="1270000"/>
          </a:xfrm>
          <a:prstGeom prst="rect">
            <a:avLst/>
          </a:prstGeom>
        </p:spPr>
      </p:pic>
      <p:sp>
        <p:nvSpPr>
          <p:cNvPr id="298" name="rect 298"/>
          <p:cNvSpPr/>
          <p:nvPr/>
        </p:nvSpPr>
        <p:spPr>
          <a:xfrm>
            <a:off x="9447784" y="12966"/>
            <a:ext cx="2233294" cy="1084821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300" name="textbox 300"/>
          <p:cNvSpPr/>
          <p:nvPr/>
        </p:nvSpPr>
        <p:spPr>
          <a:xfrm>
            <a:off x="5067376" y="419252"/>
            <a:ext cx="1220596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r>
              <a:rPr sz="2400" b="1" kern="0" spc="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</a:t>
            </a:r>
            <a:r>
              <a:rPr sz="2400" b="1" kern="0" spc="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r>
              <a:rPr sz="2400" b="1" kern="0" spc="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</a:t>
            </a:r>
            <a:r>
              <a:rPr lang="en-US" sz="2400" b="1" kern="0" spc="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</a:t>
            </a:r>
            <a:r>
              <a:rPr lang="zh-CN" sz="2400" b="1" kern="0" spc="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  <a:r>
              <a:rPr sz="2400" b="1" kern="0" spc="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</a:t>
            </a: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</a:t>
            </a:r>
            <a:r>
              <a:rPr lang="en-US" sz="24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15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25" y="2648585"/>
            <a:ext cx="7833995" cy="7258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9238055" y="4020820"/>
            <a:ext cx="84181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StarryX </a:t>
            </a:r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内存管理系统底层使用</a:t>
            </a:r>
            <a:r>
              <a:rPr lang="en-US" altLang="zh-CN" sz="3200" dirty="0" err="1">
                <a:latin typeface="华文楷体" panose="02010600040101010101" pitchFamily="2" charset="-122"/>
                <a:ea typeface="华文楷体" panose="02010600040101010101" pitchFamily="2" charset="-122"/>
              </a:rPr>
              <a:t>axalloc</a:t>
            </a:r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实例化内存分配器，负责物理页的分配和回收，支持 </a:t>
            </a:r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Buddy </a:t>
            </a:r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分配算 法、</a:t>
            </a:r>
            <a:r>
              <a:rPr lang="en-US" altLang="zh-CN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Slab </a:t>
            </a:r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分配算法等。</a:t>
            </a:r>
            <a:endParaRPr lang="en-US" altLang="zh-CN" sz="32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地址空间管理底层使用</a:t>
            </a:r>
            <a:r>
              <a:rPr lang="en-US" altLang="zh-CN" sz="3200" dirty="0" err="1">
                <a:latin typeface="华文楷体" panose="02010600040101010101" pitchFamily="2" charset="-122"/>
                <a:ea typeface="华文楷体" panose="02010600040101010101" pitchFamily="2" charset="-122"/>
              </a:rPr>
              <a:t>axmm</a:t>
            </a:r>
            <a:r>
              <a:rPr lang="zh-CN" altLang="en-US" sz="3200" dirty="0">
                <a:latin typeface="华文楷体" panose="02010600040101010101" pitchFamily="2" charset="-122"/>
                <a:ea typeface="华文楷体" panose="02010600040101010101" pitchFamily="2" charset="-122"/>
              </a:rPr>
              <a:t>模块，通过线性映射、页面映射、共享映射分别对应地址空间建立的不同要求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31825" y="1731645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内存管理架构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 290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296" name="picture 29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12700"/>
            <a:ext cx="18288000" cy="1270000"/>
          </a:xfrm>
          <a:prstGeom prst="rect">
            <a:avLst/>
          </a:prstGeom>
        </p:spPr>
      </p:pic>
      <p:sp>
        <p:nvSpPr>
          <p:cNvPr id="298" name="rect 298"/>
          <p:cNvSpPr/>
          <p:nvPr/>
        </p:nvSpPr>
        <p:spPr>
          <a:xfrm>
            <a:off x="9447784" y="12966"/>
            <a:ext cx="2233294" cy="1084821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300" name="textbox 300"/>
          <p:cNvSpPr/>
          <p:nvPr/>
        </p:nvSpPr>
        <p:spPr>
          <a:xfrm>
            <a:off x="5473776" y="380116"/>
            <a:ext cx="1220596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         进程管理      </a:t>
            </a:r>
            <a:r>
              <a:rPr lang="en-US" sz="2400" b="1" kern="0" spc="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   </a:t>
            </a:r>
            <a:r>
              <a:rPr lang="zh-CN" sz="2400" b="1" kern="0" spc="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  <a:r>
              <a:rPr sz="2400" b="1" kern="0" spc="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</a:t>
            </a:r>
            <a:r>
              <a:rPr sz="24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</a:t>
            </a:r>
            <a:r>
              <a:rPr lang="en-US" sz="2400" b="1" kern="0" spc="-1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19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615" y="1755140"/>
            <a:ext cx="5803265" cy="8035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631825" y="3679190"/>
            <a:ext cx="8983980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StarryX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启动了</a:t>
            </a:r>
            <a:r>
              <a:rPr lang="en-US" altLang="zh-CN" sz="28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paging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特性，为每个应用程序分配一个</a:t>
            </a:r>
          </a:p>
          <a:p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独立的的虚拟地址空间，即</a:t>
            </a:r>
            <a:r>
              <a:rPr lang="en-US" altLang="zh-CN" sz="2800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AddrSpace</a:t>
            </a:r>
            <a:r>
              <a:rPr lang="en-US" altLang="zh-CN" sz="28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结构体，用于管</a:t>
            </a:r>
          </a:p>
          <a:p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理用户程序的内存空间。</a:t>
            </a:r>
          </a:p>
          <a:p>
            <a:endParaRPr lang="zh-CN" altLang="en-US" sz="2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进程地址空间分为用户空间和内核空间两部分，用户空间位于低地址，包括了代码段、数据段、堆、栈、内存映射区域。</a:t>
            </a:r>
          </a:p>
          <a:p>
            <a:endParaRPr lang="zh-CN" altLang="en-US" sz="28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内核空间位于高地址，包括了内核代码段、内核数据段、内核堆、内核栈、页表。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0B75DF-57FF-44EB-B721-58D7D4B70FD1}"/>
              </a:ext>
            </a:extLst>
          </p:cNvPr>
          <p:cNvSpPr txBox="1"/>
          <p:nvPr/>
        </p:nvSpPr>
        <p:spPr>
          <a:xfrm>
            <a:off x="631825" y="2064067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地址空间管理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 376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378" name="rect 378"/>
          <p:cNvSpPr/>
          <p:nvPr/>
        </p:nvSpPr>
        <p:spPr>
          <a:xfrm>
            <a:off x="7" y="0"/>
            <a:ext cx="18287992" cy="5604636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380" name="picture 38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sp>
        <p:nvSpPr>
          <p:cNvPr id="382" name="textbox 382"/>
          <p:cNvSpPr/>
          <p:nvPr/>
        </p:nvSpPr>
        <p:spPr>
          <a:xfrm>
            <a:off x="6943166" y="6929856"/>
            <a:ext cx="4425950" cy="1121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8100" b="1" kern="0" spc="550" dirty="0">
                <a:solidFill>
                  <a:srgbClr val="0070C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grpSp>
        <p:nvGrpSpPr>
          <p:cNvPr id="40" name="group 40"/>
          <p:cNvGrpSpPr/>
          <p:nvPr/>
        </p:nvGrpSpPr>
        <p:grpSpPr>
          <a:xfrm rot="21600000">
            <a:off x="7981950" y="4566284"/>
            <a:ext cx="2324100" cy="2068322"/>
            <a:chOff x="0" y="0"/>
            <a:chExt cx="2324100" cy="2068322"/>
          </a:xfrm>
        </p:grpSpPr>
        <p:pic>
          <p:nvPicPr>
            <p:cNvPr id="384" name="picture 38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2324100" cy="2068322"/>
            </a:xfrm>
            <a:prstGeom prst="rect">
              <a:avLst/>
            </a:prstGeom>
          </p:spPr>
        </p:pic>
        <p:sp>
          <p:nvSpPr>
            <p:cNvPr id="386" name="textbox 386"/>
            <p:cNvSpPr/>
            <p:nvPr/>
          </p:nvSpPr>
          <p:spPr>
            <a:xfrm>
              <a:off x="-12700" y="-12700"/>
              <a:ext cx="2349500" cy="209422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399415" algn="l" rtl="0" eaLnBrk="0">
                <a:lnSpc>
                  <a:spcPct val="89000"/>
                </a:lnSpc>
                <a:spcBef>
                  <a:spcPts val="0"/>
                </a:spcBef>
              </a:pPr>
              <a:r>
                <a:rPr sz="3600" b="1" kern="0" spc="-50" dirty="0">
                  <a:solidFill>
                    <a:srgbClr val="007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Part.04</a:t>
              </a:r>
              <a:endParaRPr sz="36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pic>
        <p:nvPicPr>
          <p:cNvPr id="388" name="picture 38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196137" y="168973"/>
            <a:ext cx="2938940" cy="6170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rect 390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396" name="rect 396"/>
          <p:cNvSpPr/>
          <p:nvPr/>
        </p:nvSpPr>
        <p:spPr>
          <a:xfrm>
            <a:off x="0" y="0"/>
            <a:ext cx="18288000" cy="1224159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400" name="picture 40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402" name="rect 402"/>
          <p:cNvSpPr/>
          <p:nvPr/>
        </p:nvSpPr>
        <p:spPr>
          <a:xfrm>
            <a:off x="11505565" y="12"/>
            <a:ext cx="2233295" cy="1084821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406" name="textbox 406"/>
          <p:cNvSpPr/>
          <p:nvPr/>
        </p:nvSpPr>
        <p:spPr>
          <a:xfrm>
            <a:off x="11986260" y="419100"/>
            <a:ext cx="382587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  <a:r>
              <a:rPr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 </a:t>
            </a:r>
            <a:r>
              <a:rPr lang="en-US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408" name="textbox 408"/>
          <p:cNvSpPr/>
          <p:nvPr/>
        </p:nvSpPr>
        <p:spPr>
          <a:xfrm>
            <a:off x="925377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10" dirty="0">
                <a:solidFill>
                  <a:srgbClr val="7F7F7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410" name="textbox 410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12" name="textbox 41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14" name="textbox 414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23" name="图片 13" descr="IMG_2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1347470"/>
            <a:ext cx="7285990" cy="828865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9643745" y="3719174"/>
            <a:ext cx="69291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文件系统底层为</a:t>
            </a:r>
            <a:r>
              <a:rPr lang="en-US" altLang="zh-CN" sz="2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axdriver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提供的块设备，</a:t>
            </a:r>
            <a:r>
              <a:rPr lang="en-US" altLang="zh-CN" sz="2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vfs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的设计学习自</a:t>
            </a:r>
            <a:r>
              <a:rPr lang="en-US" altLang="zh-CN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Linux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，自底向上将文件逐层抽象为</a:t>
            </a:r>
            <a:r>
              <a:rPr lang="en-US" altLang="zh-CN" sz="2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inode</a:t>
            </a:r>
            <a:r>
              <a:rPr lang="en-US" altLang="zh-CN" sz="2800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en-US" altLang="zh-CN" sz="2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dentry</a:t>
            </a:r>
            <a:r>
              <a:rPr lang="en-US" altLang="zh-CN" sz="2800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en-US" altLang="zh-CN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location-file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，并将块设备实例为具体的文件系统，上层通过</a:t>
            </a:r>
            <a:r>
              <a:rPr lang="en-US" altLang="zh-CN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Path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FS_CONTEXT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进行路径解析，并实现了</a:t>
            </a:r>
            <a:r>
              <a:rPr lang="en-US" altLang="zh-CN" sz="2800" kern="1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dc</a:t>
            </a:r>
            <a:r>
              <a:rPr lang="en-US" altLang="zh-CN" sz="2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ache</a:t>
            </a:r>
            <a:r>
              <a:rPr lang="zh-CN" altLang="en-US" sz="2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和并发访问</a:t>
            </a:r>
            <a:endParaRPr lang="zh-CN" altLang="en-US" sz="4000" dirty="0">
              <a:ea typeface="宋体" panose="0201060003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643745" y="1987231"/>
            <a:ext cx="609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2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文件系统框架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rect 390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396" name="rect 396"/>
          <p:cNvSpPr/>
          <p:nvPr/>
        </p:nvSpPr>
        <p:spPr>
          <a:xfrm>
            <a:off x="0" y="0"/>
            <a:ext cx="18288000" cy="1224159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 dirty="0"/>
          </a:p>
        </p:txBody>
      </p:sp>
      <p:pic>
        <p:nvPicPr>
          <p:cNvPr id="400" name="picture 40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402" name="rect 402"/>
          <p:cNvSpPr/>
          <p:nvPr/>
        </p:nvSpPr>
        <p:spPr>
          <a:xfrm>
            <a:off x="11505565" y="12"/>
            <a:ext cx="2233295" cy="1084821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406" name="textbox 406"/>
          <p:cNvSpPr/>
          <p:nvPr/>
        </p:nvSpPr>
        <p:spPr>
          <a:xfrm>
            <a:off x="11986260" y="419100"/>
            <a:ext cx="382587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  <a:r>
              <a:rPr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 </a:t>
            </a:r>
            <a:r>
              <a:rPr lang="en-US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408" name="textbox 408"/>
          <p:cNvSpPr/>
          <p:nvPr/>
        </p:nvSpPr>
        <p:spPr>
          <a:xfrm>
            <a:off x="925377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10" dirty="0">
                <a:solidFill>
                  <a:srgbClr val="7F7F7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410" name="textbox 410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12" name="textbox 41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14" name="textbox 414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24" name="图片 14" descr="IMG_25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9355" y="1649730"/>
            <a:ext cx="8395335" cy="78181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文本框 1"/>
          <p:cNvSpPr txBox="1"/>
          <p:nvPr>
            <p:custDataLst>
              <p:tags r:id="rId1"/>
            </p:custDataLst>
          </p:nvPr>
        </p:nvSpPr>
        <p:spPr>
          <a:xfrm>
            <a:off x="1174115" y="3600768"/>
            <a:ext cx="584898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en-US" sz="2800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FileLike</a:t>
            </a:r>
            <a:r>
              <a:rPr lang="en-US" altLang="en-US" sz="28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为文件系统核心抽象，利用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rust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的动态分发，将</a:t>
            </a:r>
            <a:r>
              <a:rPr lang="en-US" altLang="zh-CN" sz="2800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FileLike</a:t>
            </a:r>
            <a:r>
              <a:rPr lang="en-US" altLang="zh-CN" sz="28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 trait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实例化为不同类型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File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</a:rPr>
              <a:t>，支持统一的文件操作的同时文件可以实例化自身的文件操作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288415" y="1720215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文件核心抽象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rect 390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96" name="rect 396"/>
          <p:cNvSpPr/>
          <p:nvPr/>
        </p:nvSpPr>
        <p:spPr>
          <a:xfrm>
            <a:off x="0" y="0"/>
            <a:ext cx="18288000" cy="1224159"/>
          </a:xfrm>
          <a:prstGeom prst="rect">
            <a:avLst/>
          </a:prstGeom>
          <a:solidFill>
            <a:srgbClr val="F1F1F1">
              <a:alpha val="99215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400" name="picture 4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402" name="rect 402"/>
          <p:cNvSpPr/>
          <p:nvPr/>
        </p:nvSpPr>
        <p:spPr>
          <a:xfrm>
            <a:off x="11505565" y="12"/>
            <a:ext cx="2233295" cy="1084821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406" name="textbox 406"/>
          <p:cNvSpPr/>
          <p:nvPr/>
        </p:nvSpPr>
        <p:spPr>
          <a:xfrm>
            <a:off x="11986260" y="419100"/>
            <a:ext cx="382587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  <a:r>
              <a:rPr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 </a:t>
            </a:r>
            <a:r>
              <a:rPr lang="en-US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</a:t>
            </a:r>
            <a:r>
              <a:rPr lang="zh-CN"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sp>
        <p:nvSpPr>
          <p:cNvPr id="408" name="textbox 408"/>
          <p:cNvSpPr/>
          <p:nvPr/>
        </p:nvSpPr>
        <p:spPr>
          <a:xfrm>
            <a:off x="925377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10" dirty="0">
                <a:solidFill>
                  <a:srgbClr val="7F7F7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410" name="textbox 410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12" name="textbox 412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14" name="textbox 414"/>
          <p:cNvSpPr/>
          <p:nvPr/>
        </p:nvSpPr>
        <p:spPr>
          <a:xfrm>
            <a:off x="16642156" y="419252"/>
            <a:ext cx="63119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95" y="4987925"/>
            <a:ext cx="13068935" cy="381190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593706" y="2987554"/>
            <a:ext cx="12252594" cy="2095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28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StrarryX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实现了完整的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IO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多路复用机制，包括</a:t>
            </a:r>
            <a:r>
              <a:rPr lang="en-US" altLang="zh-CN" sz="36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select</a:t>
            </a:r>
            <a:r>
              <a:rPr lang="zh-CN" altLang="en-US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、</a:t>
            </a:r>
            <a:r>
              <a:rPr lang="en-US" altLang="zh-CN" sz="3600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poll</a:t>
            </a:r>
            <a:r>
              <a:rPr lang="zh-CN" altLang="en-US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、</a:t>
            </a:r>
            <a:r>
              <a:rPr lang="en-US" altLang="zh-CN" sz="3600" dirty="0" err="1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epoll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等标准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POSIX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接口，并基于统一的</a:t>
            </a:r>
            <a:r>
              <a:rPr lang="en-US" altLang="zh-CN" sz="2800" b="1" dirty="0" err="1">
                <a:latin typeface="华文楷体" panose="02010600040101010101" pitchFamily="2" charset="-122"/>
                <a:ea typeface="华文楷体" panose="02010600040101010101" pitchFamily="2" charset="-122"/>
              </a:rPr>
              <a:t>FileLike</a:t>
            </a:r>
            <a:r>
              <a:rPr lang="en-US" altLang="zh-CN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::poll()</a:t>
            </a:r>
            <a:r>
              <a:rPr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接口，使用零拷贝优化减少内存拷贝</a:t>
            </a:r>
            <a:r>
              <a:rPr lang="zh-CN" altLang="en-US" sz="2800" b="1" dirty="0"/>
              <a:t>。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398905" y="153162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en-US" altLang="zh-CN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IO</a:t>
            </a: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多路复用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 454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456" name="rect 456"/>
          <p:cNvSpPr/>
          <p:nvPr/>
        </p:nvSpPr>
        <p:spPr>
          <a:xfrm>
            <a:off x="7" y="0"/>
            <a:ext cx="18287992" cy="5604636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458" name="picture 45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sp>
        <p:nvSpPr>
          <p:cNvPr id="460" name="textbox 460"/>
          <p:cNvSpPr/>
          <p:nvPr/>
        </p:nvSpPr>
        <p:spPr>
          <a:xfrm>
            <a:off x="7093724" y="6942182"/>
            <a:ext cx="4429125" cy="1121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6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8100" b="1" kern="0" spc="0" dirty="0">
                <a:solidFill>
                  <a:srgbClr val="0070C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</a:p>
        </p:txBody>
      </p:sp>
      <p:grpSp>
        <p:nvGrpSpPr>
          <p:cNvPr id="44" name="group 44"/>
          <p:cNvGrpSpPr/>
          <p:nvPr/>
        </p:nvGrpSpPr>
        <p:grpSpPr>
          <a:xfrm rot="21600000">
            <a:off x="7981950" y="4566284"/>
            <a:ext cx="2324100" cy="2068322"/>
            <a:chOff x="0" y="0"/>
            <a:chExt cx="2324100" cy="2068322"/>
          </a:xfrm>
        </p:grpSpPr>
        <p:pic>
          <p:nvPicPr>
            <p:cNvPr id="462" name="picture 46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2324100" cy="2068322"/>
            </a:xfrm>
            <a:prstGeom prst="rect">
              <a:avLst/>
            </a:prstGeom>
          </p:spPr>
        </p:pic>
        <p:sp>
          <p:nvSpPr>
            <p:cNvPr id="464" name="textbox 464"/>
            <p:cNvSpPr/>
            <p:nvPr/>
          </p:nvSpPr>
          <p:spPr>
            <a:xfrm>
              <a:off x="-12700" y="-12700"/>
              <a:ext cx="2349500" cy="209422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399415" algn="l" rtl="0" eaLnBrk="0">
                <a:lnSpc>
                  <a:spcPct val="89000"/>
                </a:lnSpc>
                <a:spcBef>
                  <a:spcPts val="0"/>
                </a:spcBef>
              </a:pPr>
              <a:r>
                <a:rPr sz="3600" b="1" kern="0" spc="-50" dirty="0">
                  <a:solidFill>
                    <a:srgbClr val="007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Part.05</a:t>
              </a:r>
              <a:endParaRPr sz="36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pic>
        <p:nvPicPr>
          <p:cNvPr id="466" name="picture 46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196137" y="168973"/>
            <a:ext cx="2938940" cy="6170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picture 46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8288000" cy="10286997"/>
          </a:xfrm>
          <a:prstGeom prst="rect">
            <a:avLst/>
          </a:prstGeom>
        </p:spPr>
      </p:pic>
      <p:pic>
        <p:nvPicPr>
          <p:cNvPr id="474" name="picture 47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476" name="rect 476"/>
          <p:cNvSpPr/>
          <p:nvPr/>
        </p:nvSpPr>
        <p:spPr>
          <a:xfrm>
            <a:off x="13898371" y="37"/>
            <a:ext cx="1859661" cy="1091907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480" name="textbox 480"/>
          <p:cNvSpPr/>
          <p:nvPr/>
        </p:nvSpPr>
        <p:spPr>
          <a:xfrm>
            <a:off x="14295120" y="419100"/>
            <a:ext cx="273367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  <a:r>
              <a:rPr sz="2400" b="1" kern="0" spc="4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</a:t>
            </a:r>
            <a:r>
              <a:rPr lang="en-US" sz="2400" b="1" kern="0" spc="4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</a:t>
            </a: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82" name="textbox 482"/>
          <p:cNvSpPr/>
          <p:nvPr/>
        </p:nvSpPr>
        <p:spPr>
          <a:xfrm>
            <a:off x="9429673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484" name="textbox 484"/>
          <p:cNvSpPr/>
          <p:nvPr/>
        </p:nvSpPr>
        <p:spPr>
          <a:xfrm>
            <a:off x="6972350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86" name="textbox 486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88" name="textbox 488"/>
          <p:cNvSpPr/>
          <p:nvPr/>
        </p:nvSpPr>
        <p:spPr>
          <a:xfrm>
            <a:off x="11905793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82295" y="160147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网络模块架构</a:t>
            </a:r>
          </a:p>
        </p:txBody>
      </p:sp>
      <p:pic>
        <p:nvPicPr>
          <p:cNvPr id="25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092" y="2379217"/>
            <a:ext cx="6506210" cy="747077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文本框 3"/>
          <p:cNvSpPr txBox="1"/>
          <p:nvPr/>
        </p:nvSpPr>
        <p:spPr>
          <a:xfrm>
            <a:off x="7809864" y="4658419"/>
            <a:ext cx="911923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StarryX</a:t>
            </a:r>
            <a:r>
              <a:rPr lang="zh-CN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的网络模块是一个</a:t>
            </a:r>
            <a:r>
              <a:rPr lang="en-US" altLang="zh-CN" sz="32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smoltcp</a:t>
            </a:r>
            <a:r>
              <a:rPr lang="zh-CN" altLang="zh-CN" sz="32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协议栈构建的现代化网络子系统。该模块采用分层架构设计，支持异步网络操作，为系统提供高性能、内存安全的网络通信能力</a:t>
            </a:r>
            <a:endParaRPr lang="zh-CN" altLang="en-US" sz="4400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picture 46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8288000" cy="10286997"/>
          </a:xfrm>
          <a:prstGeom prst="rect">
            <a:avLst/>
          </a:prstGeom>
        </p:spPr>
      </p:pic>
      <p:pic>
        <p:nvPicPr>
          <p:cNvPr id="474" name="picture 47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476" name="rect 476"/>
          <p:cNvSpPr/>
          <p:nvPr/>
        </p:nvSpPr>
        <p:spPr>
          <a:xfrm>
            <a:off x="13898371" y="37"/>
            <a:ext cx="1859661" cy="1091907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480" name="textbox 480"/>
          <p:cNvSpPr/>
          <p:nvPr/>
        </p:nvSpPr>
        <p:spPr>
          <a:xfrm>
            <a:off x="14295120" y="419100"/>
            <a:ext cx="2733675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  <a:r>
              <a:rPr sz="2400" b="1" kern="0" spc="4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</a:t>
            </a:r>
            <a:r>
              <a:rPr lang="en-US" sz="2400" b="1" kern="0" spc="4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</a:t>
            </a:r>
            <a:r>
              <a:rPr sz="2400" b="1" kern="0" spc="-2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82" name="textbox 482"/>
          <p:cNvSpPr/>
          <p:nvPr/>
        </p:nvSpPr>
        <p:spPr>
          <a:xfrm>
            <a:off x="9429673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alt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</a:t>
            </a: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484" name="textbox 484"/>
          <p:cNvSpPr/>
          <p:nvPr/>
        </p:nvSpPr>
        <p:spPr>
          <a:xfrm>
            <a:off x="6972350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 </a:t>
            </a: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86" name="textbox 486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488" name="textbox 488"/>
          <p:cNvSpPr/>
          <p:nvPr/>
        </p:nvSpPr>
        <p:spPr>
          <a:xfrm>
            <a:off x="11905793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4015" y="3244850"/>
            <a:ext cx="14999970" cy="491934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135429" y="1986077"/>
            <a:ext cx="69049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</a:t>
            </a:r>
            <a:r>
              <a:rPr lang="en-US" altLang="zh-CN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Socket</a:t>
            </a:r>
            <a:r>
              <a:rPr lang="zh-CN" altLang="en-US" sz="3600" b="1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和文件系统的适配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644015" y="8787765"/>
            <a:ext cx="163728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设计符合</a:t>
            </a:r>
            <a:r>
              <a:rPr lang="en-US" altLang="zh-CN" sz="2800" b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UNIX </a:t>
            </a:r>
            <a:r>
              <a:rPr lang="zh-CN" altLang="en-US" sz="2800" b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哲学：</a:t>
            </a:r>
            <a:r>
              <a:rPr lang="zh-CN" altLang="en-US" sz="28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一切都是文件（</a:t>
            </a:r>
            <a:r>
              <a:rPr lang="en-US" altLang="zh-CN" sz="28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Everything is a File</a:t>
            </a:r>
            <a:r>
              <a:rPr lang="zh-CN" altLang="en-US" sz="2800" b="1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）</a:t>
            </a:r>
            <a:r>
              <a:rPr lang="zh-CN" altLang="en-US" sz="2800" b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rPr>
              <a:t>，且具有良好的扩展性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rect 528"/>
          <p:cNvSpPr/>
          <p:nvPr/>
        </p:nvSpPr>
        <p:spPr>
          <a:xfrm>
            <a:off x="21517" y="0"/>
            <a:ext cx="18266481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530" name="rect 530"/>
          <p:cNvSpPr/>
          <p:nvPr/>
        </p:nvSpPr>
        <p:spPr>
          <a:xfrm>
            <a:off x="7" y="0"/>
            <a:ext cx="18287992" cy="5604636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532" name="picture 5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grpSp>
        <p:nvGrpSpPr>
          <p:cNvPr id="46" name="group 46"/>
          <p:cNvGrpSpPr/>
          <p:nvPr/>
        </p:nvGrpSpPr>
        <p:grpSpPr>
          <a:xfrm rot="21600000">
            <a:off x="7981950" y="4566284"/>
            <a:ext cx="2324100" cy="2068322"/>
            <a:chOff x="0" y="0"/>
            <a:chExt cx="2324100" cy="2068322"/>
          </a:xfrm>
        </p:grpSpPr>
        <p:pic>
          <p:nvPicPr>
            <p:cNvPr id="534" name="picture 53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1600000">
              <a:off x="0" y="0"/>
              <a:ext cx="2324100" cy="2068322"/>
            </a:xfrm>
            <a:prstGeom prst="rect">
              <a:avLst/>
            </a:prstGeom>
          </p:spPr>
        </p:pic>
        <p:sp>
          <p:nvSpPr>
            <p:cNvPr id="536" name="textbox 536"/>
            <p:cNvSpPr/>
            <p:nvPr/>
          </p:nvSpPr>
          <p:spPr>
            <a:xfrm>
              <a:off x="-12700" y="-12700"/>
              <a:ext cx="2349500" cy="2094229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2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3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399415" algn="l" rtl="0" eaLnBrk="0">
                <a:lnSpc>
                  <a:spcPct val="89000"/>
                </a:lnSpc>
                <a:spcBef>
                  <a:spcPts val="0"/>
                </a:spcBef>
              </a:pPr>
              <a:r>
                <a:rPr sz="3600" b="1" kern="0" spc="-50" dirty="0">
                  <a:solidFill>
                    <a:srgbClr val="0070C0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Part.06</a:t>
              </a:r>
              <a:endParaRPr sz="36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sp>
        <p:nvSpPr>
          <p:cNvPr id="538" name="textbox 538"/>
          <p:cNvSpPr/>
          <p:nvPr/>
        </p:nvSpPr>
        <p:spPr>
          <a:xfrm>
            <a:off x="8024037" y="7024090"/>
            <a:ext cx="2183129" cy="112141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64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8100" b="1" kern="0" spc="380" dirty="0">
                <a:solidFill>
                  <a:srgbClr val="0070C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81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pic>
        <p:nvPicPr>
          <p:cNvPr id="540" name="picture 54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196137" y="168973"/>
            <a:ext cx="2938940" cy="61702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2" name="picture 5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0" y="0"/>
            <a:ext cx="18288000" cy="10286997"/>
          </a:xfrm>
          <a:prstGeom prst="rect">
            <a:avLst/>
          </a:prstGeom>
        </p:spPr>
      </p:pic>
      <p:pic>
        <p:nvPicPr>
          <p:cNvPr id="546" name="picture 5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550" name="rect 550"/>
          <p:cNvSpPr/>
          <p:nvPr/>
        </p:nvSpPr>
        <p:spPr>
          <a:xfrm>
            <a:off x="16124682" y="64"/>
            <a:ext cx="1859661" cy="1103058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552" name="textbox 552"/>
          <p:cNvSpPr/>
          <p:nvPr/>
        </p:nvSpPr>
        <p:spPr>
          <a:xfrm>
            <a:off x="14018895" y="436880"/>
            <a:ext cx="464566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737373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网络模块</a:t>
            </a:r>
            <a:r>
              <a:rPr sz="2400" b="1" kern="0" spc="40" dirty="0">
                <a:solidFill>
                  <a:srgbClr val="737373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</a:t>
            </a:r>
            <a:r>
              <a:rPr lang="en-US" sz="2400" b="1" kern="0" spc="40" dirty="0">
                <a:solidFill>
                  <a:srgbClr val="737373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</a:t>
            </a:r>
            <a:r>
              <a:rPr sz="2400" b="1" kern="0" spc="-2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</a:t>
            </a:r>
            <a:endParaRPr sz="24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4" name="textbox 554"/>
          <p:cNvSpPr/>
          <p:nvPr/>
        </p:nvSpPr>
        <p:spPr>
          <a:xfrm>
            <a:off x="942903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556" name="textbox 556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进程管理</a:t>
            </a:r>
            <a:endParaRPr sz="24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8" name="textbox 558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系统架构</a:t>
            </a:r>
            <a:endParaRPr sz="24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0" name="textbox 560"/>
          <p:cNvSpPr/>
          <p:nvPr/>
        </p:nvSpPr>
        <p:spPr>
          <a:xfrm>
            <a:off x="11727358" y="43703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12470" y="155194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charset="0"/>
              <a:buChar char="Ø"/>
            </a:pPr>
            <a:r>
              <a:rPr lang="zh-CN" altLang="en-US" sz="3600" b="1" dirty="0">
                <a:latin typeface="微软雅黑" panose="020B0503020204020204" charset="-122"/>
                <a:ea typeface="微软雅黑" panose="020B0503020204020204" charset="-122"/>
              </a:rPr>
              <a:t>测列通过情况</a:t>
            </a:r>
          </a:p>
        </p:txBody>
      </p:sp>
      <p:graphicFrame>
        <p:nvGraphicFramePr>
          <p:cNvPr id="4" name="table 544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3456305" y="2373533"/>
          <a:ext cx="11375390" cy="7265035"/>
        </p:xfrm>
        <a:graphic>
          <a:graphicData uri="http://schemas.openxmlformats.org/drawingml/2006/table">
            <a:tbl>
              <a:tblPr/>
              <a:tblGrid>
                <a:gridCol w="3368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2010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2000" b="1" kern="0" spc="13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测试集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kern="0" spc="13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RISCV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kern="0" spc="130" dirty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LoonArch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2640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Basic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102/102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102/102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2640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Libc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217/217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217/217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Iozone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成功运行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成功运行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2640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Busybox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54/54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54/54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Lua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9/9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9/9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02640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Libcbench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成功运行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成功运行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Lmbench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成功运行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Arial" panose="020B0604020202020204"/>
                        </a:rPr>
                        <a:t>成功运行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02640"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其他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未测试</a:t>
                      </a: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/</a:t>
                      </a:r>
                      <a:r>
                        <a:rPr lang="zh-CN" alt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通过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 rtl="0" ea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未测试</a:t>
                      </a:r>
                      <a:r>
                        <a:rPr lang="en-US" altLang="zh-CN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/</a:t>
                      </a:r>
                      <a:r>
                        <a:rPr lang="zh-CN" altLang="en-US" sz="1800" b="0" spc="130" dirty="0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通过</a:t>
                      </a:r>
                    </a:p>
                  </a:txBody>
                  <a:tcPr marL="317500" marR="317500" marT="215900" marB="2159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picture 5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0"/>
            <a:ext cx="18288000" cy="10286997"/>
          </a:xfrm>
          <a:prstGeom prst="rect">
            <a:avLst/>
          </a:prstGeom>
        </p:spPr>
      </p:pic>
      <p:sp>
        <p:nvSpPr>
          <p:cNvPr id="564" name="textbox 564"/>
          <p:cNvSpPr/>
          <p:nvPr/>
        </p:nvSpPr>
        <p:spPr>
          <a:xfrm>
            <a:off x="486536" y="3721761"/>
            <a:ext cx="4293870" cy="243776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r" rtl="0" eaLnBrk="0">
              <a:lnSpc>
                <a:spcPct val="89000"/>
              </a:lnSpc>
            </a:pPr>
            <a:r>
              <a:rPr sz="3600" b="1" kern="0" spc="-10" dirty="0" err="1">
                <a:solidFill>
                  <a:srgbClr val="0067B4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36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  <a:p>
            <a:pPr marL="584200" indent="-571500" algn="l" rtl="0" eaLnBrk="0">
              <a:lnSpc>
                <a:spcPct val="92000"/>
              </a:lnSpc>
              <a:spcBef>
                <a:spcPts val="1975"/>
              </a:spcBef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多层次进程架构</a:t>
            </a:r>
          </a:p>
          <a:p>
            <a:pPr marL="584200" indent="-571500" algn="l" rtl="0" eaLnBrk="0">
              <a:lnSpc>
                <a:spcPct val="92000"/>
              </a:lnSpc>
              <a:spcBef>
                <a:spcPts val="1975"/>
              </a:spcBef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完整信号处理机制</a:t>
            </a:r>
          </a:p>
          <a:p>
            <a:pPr marL="584200" indent="-571500" algn="l" rtl="0" eaLnBrk="0">
              <a:lnSpc>
                <a:spcPct val="92000"/>
              </a:lnSpc>
              <a:spcBef>
                <a:spcPts val="1975"/>
              </a:spcBef>
              <a:buFont typeface="Arial" panose="020B0604020202020204" pitchFamily="34" charset="0"/>
              <a:buChar char="•"/>
            </a:pP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Linux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兼容系统调用</a:t>
            </a:r>
          </a:p>
        </p:txBody>
      </p:sp>
      <p:sp>
        <p:nvSpPr>
          <p:cNvPr id="566" name="textbox 566"/>
          <p:cNvSpPr/>
          <p:nvPr/>
        </p:nvSpPr>
        <p:spPr>
          <a:xfrm>
            <a:off x="13340587" y="3579342"/>
            <a:ext cx="4726304" cy="177609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华文楷体" panose="02010600040101010101" pitchFamily="2" charset="-122"/>
              <a:ea typeface="华文楷体" panose="02010600040101010101" pitchFamily="2" charset="-122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3600" b="1" kern="0" spc="-10" dirty="0">
                <a:solidFill>
                  <a:srgbClr val="0067B4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  <a:sym typeface="+mn-ea"/>
              </a:rPr>
              <a:t>内存管理</a:t>
            </a:r>
            <a:endParaRPr sz="36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  <a:p>
            <a:pPr marL="584200" indent="-571500" algn="l" rtl="0" eaLnBrk="0">
              <a:lnSpc>
                <a:spcPct val="92000"/>
              </a:lnSpc>
              <a:spcBef>
                <a:spcPts val="1975"/>
              </a:spcBef>
              <a:buFont typeface="Arial" panose="020B0604020202020204" pitchFamily="34" charset="0"/>
              <a:buChar char="•"/>
            </a:pP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Rust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内存安全保证</a:t>
            </a:r>
          </a:p>
          <a:p>
            <a:pPr marL="584200" indent="-571500" algn="l" rtl="0" eaLnBrk="0">
              <a:lnSpc>
                <a:spcPct val="92000"/>
              </a:lnSpc>
              <a:spcBef>
                <a:spcPts val="1975"/>
              </a:spcBef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虚拟内存系统</a:t>
            </a:r>
          </a:p>
          <a:p>
            <a:pPr marL="584200" indent="-571500" algn="l" rtl="0" eaLnBrk="0">
              <a:lnSpc>
                <a:spcPct val="92000"/>
              </a:lnSpc>
              <a:spcBef>
                <a:spcPts val="1975"/>
              </a:spcBef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高效页表管理</a:t>
            </a:r>
          </a:p>
        </p:txBody>
      </p:sp>
      <p:grpSp>
        <p:nvGrpSpPr>
          <p:cNvPr id="48" name="group 48"/>
          <p:cNvGrpSpPr/>
          <p:nvPr/>
        </p:nvGrpSpPr>
        <p:grpSpPr>
          <a:xfrm rot="21600000">
            <a:off x="10584815" y="3259835"/>
            <a:ext cx="2639439" cy="3035173"/>
            <a:chOff x="0" y="0"/>
            <a:chExt cx="2639439" cy="3035173"/>
          </a:xfrm>
        </p:grpSpPr>
        <p:sp>
          <p:nvSpPr>
            <p:cNvPr id="568" name="path 568"/>
            <p:cNvSpPr/>
            <p:nvPr/>
          </p:nvSpPr>
          <p:spPr>
            <a:xfrm>
              <a:off x="0" y="0"/>
              <a:ext cx="2639439" cy="3035173"/>
            </a:xfrm>
            <a:custGeom>
              <a:avLst/>
              <a:gdLst/>
              <a:ahLst/>
              <a:cxnLst/>
              <a:rect l="0" t="0" r="0" b="0"/>
              <a:pathLst>
                <a:path w="4156" h="4779">
                  <a:moveTo>
                    <a:pt x="2078" y="0"/>
                  </a:moveTo>
                  <a:lnTo>
                    <a:pt x="4156" y="1039"/>
                  </a:lnTo>
                  <a:lnTo>
                    <a:pt x="4156" y="3740"/>
                  </a:lnTo>
                  <a:lnTo>
                    <a:pt x="2078" y="4779"/>
                  </a:lnTo>
                  <a:lnTo>
                    <a:pt x="0" y="3740"/>
                  </a:lnTo>
                  <a:lnTo>
                    <a:pt x="0" y="1039"/>
                  </a:lnTo>
                  <a:lnTo>
                    <a:pt x="2078" y="0"/>
                  </a:lnTo>
                  <a:close/>
                </a:path>
              </a:pathLst>
            </a:custGeom>
            <a:solidFill>
              <a:srgbClr val="00B0F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570" name="textbox 570"/>
            <p:cNvSpPr/>
            <p:nvPr/>
          </p:nvSpPr>
          <p:spPr>
            <a:xfrm>
              <a:off x="-12700" y="-12700"/>
              <a:ext cx="2665095" cy="3060700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5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5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5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610235" algn="l" rtl="0" eaLnBrk="0">
                <a:lnSpc>
                  <a:spcPct val="91000"/>
                </a:lnSpc>
              </a:pPr>
              <a:r>
                <a:rPr sz="3900" b="1" kern="0" spc="-2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No.04</a:t>
              </a:r>
              <a:endParaRPr sz="39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sp>
        <p:nvSpPr>
          <p:cNvPr id="572" name="path 572"/>
          <p:cNvSpPr/>
          <p:nvPr/>
        </p:nvSpPr>
        <p:spPr>
          <a:xfrm>
            <a:off x="9148826" y="5821807"/>
            <a:ext cx="2643505" cy="3035172"/>
          </a:xfrm>
          <a:custGeom>
            <a:avLst/>
            <a:gdLst/>
            <a:ahLst/>
            <a:cxnLst/>
            <a:rect l="0" t="0" r="0" b="0"/>
            <a:pathLst>
              <a:path w="4163" h="4779">
                <a:moveTo>
                  <a:pt x="2081" y="0"/>
                </a:moveTo>
                <a:lnTo>
                  <a:pt x="4163" y="1039"/>
                </a:lnTo>
                <a:lnTo>
                  <a:pt x="4163" y="3740"/>
                </a:lnTo>
                <a:lnTo>
                  <a:pt x="2081" y="4779"/>
                </a:lnTo>
                <a:lnTo>
                  <a:pt x="0" y="3740"/>
                </a:lnTo>
                <a:lnTo>
                  <a:pt x="0" y="1039"/>
                </a:lnTo>
                <a:lnTo>
                  <a:pt x="2081" y="0"/>
                </a:lnTo>
                <a:close/>
              </a:path>
            </a:pathLst>
          </a:custGeom>
          <a:solidFill>
            <a:srgbClr val="00B0F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574" name="path 574"/>
          <p:cNvSpPr/>
          <p:nvPr/>
        </p:nvSpPr>
        <p:spPr>
          <a:xfrm>
            <a:off x="6309486" y="5838063"/>
            <a:ext cx="2639440" cy="3035172"/>
          </a:xfrm>
          <a:custGeom>
            <a:avLst/>
            <a:gdLst/>
            <a:ahLst/>
            <a:cxnLst/>
            <a:rect l="0" t="0" r="0" b="0"/>
            <a:pathLst>
              <a:path w="4156" h="4779">
                <a:moveTo>
                  <a:pt x="2078" y="0"/>
                </a:moveTo>
                <a:lnTo>
                  <a:pt x="4156" y="1039"/>
                </a:lnTo>
                <a:lnTo>
                  <a:pt x="4156" y="3740"/>
                </a:lnTo>
                <a:lnTo>
                  <a:pt x="2078" y="4779"/>
                </a:lnTo>
                <a:lnTo>
                  <a:pt x="0" y="3740"/>
                </a:lnTo>
                <a:lnTo>
                  <a:pt x="0" y="1039"/>
                </a:lnTo>
                <a:lnTo>
                  <a:pt x="2078" y="0"/>
                </a:lnTo>
                <a:close/>
              </a:path>
            </a:pathLst>
          </a:custGeom>
          <a:solidFill>
            <a:srgbClr val="00B0F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grpSp>
        <p:nvGrpSpPr>
          <p:cNvPr id="50" name="group 50"/>
          <p:cNvGrpSpPr/>
          <p:nvPr/>
        </p:nvGrpSpPr>
        <p:grpSpPr>
          <a:xfrm rot="21600000">
            <a:off x="4877561" y="3259835"/>
            <a:ext cx="2639441" cy="3035173"/>
            <a:chOff x="0" y="0"/>
            <a:chExt cx="2639441" cy="3035173"/>
          </a:xfrm>
        </p:grpSpPr>
        <p:sp>
          <p:nvSpPr>
            <p:cNvPr id="576" name="path 576"/>
            <p:cNvSpPr/>
            <p:nvPr/>
          </p:nvSpPr>
          <p:spPr>
            <a:xfrm>
              <a:off x="0" y="0"/>
              <a:ext cx="2639441" cy="3035173"/>
            </a:xfrm>
            <a:custGeom>
              <a:avLst/>
              <a:gdLst/>
              <a:ahLst/>
              <a:cxnLst/>
              <a:rect l="0" t="0" r="0" b="0"/>
              <a:pathLst>
                <a:path w="4156" h="4779">
                  <a:moveTo>
                    <a:pt x="2078" y="0"/>
                  </a:moveTo>
                  <a:lnTo>
                    <a:pt x="4156" y="1039"/>
                  </a:lnTo>
                  <a:lnTo>
                    <a:pt x="4156" y="3740"/>
                  </a:lnTo>
                  <a:lnTo>
                    <a:pt x="2078" y="4779"/>
                  </a:lnTo>
                  <a:lnTo>
                    <a:pt x="0" y="3740"/>
                  </a:lnTo>
                  <a:lnTo>
                    <a:pt x="0" y="1039"/>
                  </a:lnTo>
                  <a:lnTo>
                    <a:pt x="2078" y="0"/>
                  </a:lnTo>
                  <a:close/>
                </a:path>
              </a:pathLst>
            </a:custGeom>
            <a:solidFill>
              <a:srgbClr val="00B0F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578" name="textbox 578"/>
            <p:cNvSpPr/>
            <p:nvPr/>
          </p:nvSpPr>
          <p:spPr>
            <a:xfrm>
              <a:off x="-12700" y="-12700"/>
              <a:ext cx="2665095" cy="3060700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4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5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5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algn="l" rtl="0" eaLnBrk="0">
                <a:lnSpc>
                  <a:spcPct val="105000"/>
                </a:lnSpc>
              </a:pPr>
              <a:endParaRPr sz="1000" dirty="0">
                <a:latin typeface="Arial" panose="020B0604020202020204"/>
                <a:ea typeface="Arial" panose="020B0604020202020204"/>
                <a:cs typeface="Arial" panose="020B0604020202020204"/>
              </a:endParaRPr>
            </a:p>
            <a:p>
              <a:pPr marL="609600" algn="l" rtl="0" eaLnBrk="0">
                <a:lnSpc>
                  <a:spcPct val="91000"/>
                </a:lnSpc>
              </a:pPr>
              <a:r>
                <a:rPr sz="3900" b="1" kern="0" spc="-20" dirty="0">
                  <a:solidFill>
                    <a:srgbClr val="FFFFFF">
                      <a:alpha val="100000"/>
                    </a:srgbClr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No.01</a:t>
              </a:r>
              <a:endParaRPr sz="3900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 rot="21600000">
            <a:off x="7732521" y="3327145"/>
            <a:ext cx="3032315" cy="3143848"/>
            <a:chOff x="-10160" y="12700"/>
            <a:chExt cx="3032315" cy="3143848"/>
          </a:xfrm>
        </p:grpSpPr>
        <p:sp>
          <p:nvSpPr>
            <p:cNvPr id="580" name="path 580"/>
            <p:cNvSpPr/>
            <p:nvPr/>
          </p:nvSpPr>
          <p:spPr>
            <a:xfrm>
              <a:off x="-10160" y="12700"/>
              <a:ext cx="2639441" cy="3035173"/>
            </a:xfrm>
            <a:custGeom>
              <a:avLst/>
              <a:gdLst/>
              <a:ahLst/>
              <a:cxnLst/>
              <a:rect l="0" t="0" r="0" b="0"/>
              <a:pathLst>
                <a:path w="4156" h="4779">
                  <a:moveTo>
                    <a:pt x="2078" y="0"/>
                  </a:moveTo>
                  <a:lnTo>
                    <a:pt x="4156" y="1039"/>
                  </a:lnTo>
                  <a:lnTo>
                    <a:pt x="4156" y="3740"/>
                  </a:lnTo>
                  <a:lnTo>
                    <a:pt x="2078" y="4779"/>
                  </a:lnTo>
                  <a:lnTo>
                    <a:pt x="0" y="3740"/>
                  </a:lnTo>
                  <a:lnTo>
                    <a:pt x="0" y="1039"/>
                  </a:lnTo>
                  <a:lnTo>
                    <a:pt x="2078" y="0"/>
                  </a:lnTo>
                  <a:close/>
                </a:path>
              </a:pathLst>
            </a:custGeom>
            <a:solidFill>
              <a:srgbClr val="0070C0">
                <a:alpha val="100000"/>
              </a:srgbClr>
            </a:solidFill>
            <a:ln w="0" cap="flat">
              <a:noFill/>
              <a:prstDash val="solid"/>
              <a:miter lim="0"/>
            </a:ln>
          </p:spPr>
          <p:txBody>
            <a:bodyPr rtlCol="0"/>
            <a:lstStyle/>
            <a:p>
              <a:pPr algn="ctr"/>
              <a:endParaRPr lang="zh-CN" altLang="en-US"/>
            </a:p>
          </p:txBody>
        </p:sp>
        <p:sp>
          <p:nvSpPr>
            <p:cNvPr id="582" name="textbox 582"/>
            <p:cNvSpPr/>
            <p:nvPr/>
          </p:nvSpPr>
          <p:spPr>
            <a:xfrm>
              <a:off x="357060" y="95848"/>
              <a:ext cx="2665095" cy="3060700"/>
            </a:xfrm>
            <a:prstGeom prst="rect">
              <a:avLst/>
            </a:prstGeom>
            <a:noFill/>
            <a:ln w="0" cap="flat">
              <a:noFill/>
              <a:prstDash val="solid"/>
              <a:miter lim="0"/>
            </a:ln>
          </p:spPr>
          <p:txBody>
            <a:bodyPr vert="horz" wrap="square" lIns="0" tIns="0" rIns="0" bIns="0"/>
            <a:lstStyle/>
            <a:p>
              <a:pPr algn="l" rtl="0" eaLnBrk="0">
                <a:lnSpc>
                  <a:spcPct val="119000"/>
                </a:lnSpc>
              </a:pPr>
              <a:endParaRPr sz="800" dirty="0"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800" dirty="0"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800" dirty="0"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800" dirty="0"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/>
              </a:endParaRPr>
            </a:p>
            <a:p>
              <a:pPr algn="l" rtl="0" eaLnBrk="0">
                <a:lnSpc>
                  <a:spcPct val="119000"/>
                </a:lnSpc>
              </a:pPr>
              <a:endParaRPr sz="800" dirty="0"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/>
              </a:endParaRPr>
            </a:p>
            <a:p>
              <a:pPr algn="l" rtl="0" eaLnBrk="0">
                <a:lnSpc>
                  <a:spcPct val="9000"/>
                </a:lnSpc>
              </a:pPr>
              <a:endParaRPr sz="100" dirty="0"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/>
              </a:endParaRPr>
            </a:p>
            <a:p>
              <a:pPr marL="97155" algn="l" rtl="0" eaLnBrk="0">
                <a:lnSpc>
                  <a:spcPct val="89000"/>
                </a:lnSpc>
              </a:pPr>
              <a:r>
                <a:rPr lang="en-US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  </a:t>
              </a:r>
              <a:r>
                <a:rPr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 </a:t>
              </a:r>
              <a:r>
                <a:rPr lang="zh-CN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组件化</a:t>
              </a:r>
              <a:r>
                <a:rPr lang="en-US" altLang="zh-CN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 </a:t>
              </a:r>
            </a:p>
            <a:p>
              <a:pPr marL="97155" algn="l" rtl="0" eaLnBrk="0">
                <a:lnSpc>
                  <a:spcPct val="89000"/>
                </a:lnSpc>
              </a:pPr>
              <a:r>
                <a:rPr lang="en-US" altLang="zh-CN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     </a:t>
              </a:r>
              <a:r>
                <a:rPr lang="zh-CN" altLang="en-US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灵活</a:t>
              </a:r>
              <a:r>
                <a:rPr lang="en-US" altLang="zh-CN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 </a:t>
              </a:r>
            </a:p>
            <a:p>
              <a:pPr marL="97155" algn="l" rtl="0" eaLnBrk="0">
                <a:lnSpc>
                  <a:spcPct val="89000"/>
                </a:lnSpc>
              </a:pPr>
              <a:r>
                <a:rPr lang="en-US" altLang="zh-CN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    </a:t>
              </a:r>
              <a:r>
                <a:rPr lang="zh-CN" altLang="en-US" sz="4000" b="1" kern="0" spc="-500" dirty="0">
                  <a:solidFill>
                    <a:srgbClr val="FFFFFF">
                      <a:alpha val="100000"/>
                    </a:srgbClr>
                  </a:solidFill>
                  <a:latin typeface="华文楷体" panose="02010600040101010101" pitchFamily="2" charset="-122"/>
                  <a:ea typeface="华文楷体" panose="02010600040101010101" pitchFamily="2" charset="-122"/>
                  <a:cs typeface="微软雅黑" panose="020B0503020204020204" charset="-122"/>
                </a:rPr>
                <a:t>多架构</a:t>
              </a:r>
            </a:p>
          </p:txBody>
        </p:sp>
      </p:grpSp>
      <p:sp>
        <p:nvSpPr>
          <p:cNvPr id="584" name="textbox 584"/>
          <p:cNvSpPr/>
          <p:nvPr/>
        </p:nvSpPr>
        <p:spPr>
          <a:xfrm>
            <a:off x="1629433" y="7161739"/>
            <a:ext cx="4578984" cy="169926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27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6" name="textbox 586"/>
          <p:cNvSpPr/>
          <p:nvPr/>
        </p:nvSpPr>
        <p:spPr>
          <a:xfrm>
            <a:off x="12133222" y="7290644"/>
            <a:ext cx="5237479" cy="106362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81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2000"/>
              </a:lnSpc>
            </a:pPr>
            <a:endParaRPr sz="27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88" name="picture 58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229882" y="152844"/>
            <a:ext cx="3790314" cy="918273"/>
          </a:xfrm>
          <a:prstGeom prst="rect">
            <a:avLst/>
          </a:prstGeom>
        </p:spPr>
      </p:pic>
      <p:sp>
        <p:nvSpPr>
          <p:cNvPr id="590" name="textbox 590"/>
          <p:cNvSpPr/>
          <p:nvPr/>
        </p:nvSpPr>
        <p:spPr>
          <a:xfrm>
            <a:off x="6894304" y="7069613"/>
            <a:ext cx="4359275" cy="58229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0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4000"/>
              </a:lnSpc>
            </a:pPr>
            <a:r>
              <a:rPr sz="3900" b="1" kern="0" spc="0" dirty="0">
                <a:solidFill>
                  <a:srgbClr val="FFFFFF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No.02         No.03</a:t>
            </a:r>
            <a:endParaRPr sz="39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2" name="textbox 592"/>
          <p:cNvSpPr/>
          <p:nvPr/>
        </p:nvSpPr>
        <p:spPr>
          <a:xfrm>
            <a:off x="1092648" y="6471610"/>
            <a:ext cx="4592320" cy="51308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7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en-US" sz="3600" b="1" kern="0" spc="-10" dirty="0">
                <a:solidFill>
                  <a:srgbClr val="0067B4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</a:t>
            </a:r>
            <a:r>
              <a:rPr sz="3600" b="1" kern="0" spc="-10" dirty="0">
                <a:solidFill>
                  <a:srgbClr val="0067B4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  <a:endParaRPr lang="en-US" sz="3600" b="1" kern="0" spc="-10" dirty="0">
              <a:solidFill>
                <a:srgbClr val="0067B4">
                  <a:alpha val="100000"/>
                </a:srgbClr>
              </a:solidFill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594" name="rect 594"/>
          <p:cNvSpPr/>
          <p:nvPr/>
        </p:nvSpPr>
        <p:spPr>
          <a:xfrm>
            <a:off x="16124682" y="64"/>
            <a:ext cx="1859661" cy="1103058"/>
          </a:xfrm>
          <a:prstGeom prst="rect">
            <a:avLst/>
          </a:prstGeom>
          <a:solidFill>
            <a:srgbClr val="0070C0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sp>
        <p:nvSpPr>
          <p:cNvPr id="596" name="textbox 596"/>
          <p:cNvSpPr/>
          <p:nvPr/>
        </p:nvSpPr>
        <p:spPr>
          <a:xfrm>
            <a:off x="12124918" y="6552412"/>
            <a:ext cx="2759710" cy="51244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5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3600" b="1" kern="0" spc="-20" dirty="0">
                <a:solidFill>
                  <a:srgbClr val="0067B4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  <a:endParaRPr sz="36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598" name="textbox 598"/>
          <p:cNvSpPr/>
          <p:nvPr/>
        </p:nvSpPr>
        <p:spPr>
          <a:xfrm>
            <a:off x="965735" y="1678349"/>
            <a:ext cx="2369185" cy="45910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9000"/>
              </a:lnSpc>
            </a:pPr>
            <a:endParaRPr sz="36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69900" indent="-457200" algn="l" rtl="0" eaLnBrk="0">
              <a:lnSpc>
                <a:spcPct val="89000"/>
              </a:lnSpc>
              <a:buFont typeface="Wingdings" panose="05000000000000000000" charset="0"/>
              <a:buChar char="Ø"/>
            </a:pPr>
            <a:r>
              <a:rPr sz="3600" b="1" kern="0" spc="-30" dirty="0">
                <a:solidFill>
                  <a:srgbClr val="00000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工作总结</a:t>
            </a:r>
            <a:endParaRPr sz="36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00" name="textbox 600"/>
          <p:cNvSpPr/>
          <p:nvPr/>
        </p:nvSpPr>
        <p:spPr>
          <a:xfrm>
            <a:off x="14063980" y="419100"/>
            <a:ext cx="3279140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20" dirty="0">
                <a:solidFill>
                  <a:srgbClr val="737373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网络模块</a:t>
            </a:r>
            <a:r>
              <a:rPr sz="2400" b="1" kern="0" spc="40" dirty="0">
                <a:solidFill>
                  <a:srgbClr val="737373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</a:t>
            </a:r>
            <a:r>
              <a:rPr lang="en-US" sz="2400" b="1" kern="0" spc="40" dirty="0">
                <a:solidFill>
                  <a:srgbClr val="737373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        </a:t>
            </a:r>
            <a:r>
              <a:rPr sz="2400" b="1" kern="0" spc="-20" dirty="0">
                <a:solidFill>
                  <a:srgbClr val="FFFFFF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总结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02" name="textbox 602"/>
          <p:cNvSpPr/>
          <p:nvPr/>
        </p:nvSpPr>
        <p:spPr>
          <a:xfrm>
            <a:off x="9285528" y="419252"/>
            <a:ext cx="2154554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内存管理</a:t>
            </a:r>
          </a:p>
        </p:txBody>
      </p:sp>
      <p:sp>
        <p:nvSpPr>
          <p:cNvPr id="604" name="textbox 604"/>
          <p:cNvSpPr/>
          <p:nvPr/>
        </p:nvSpPr>
        <p:spPr>
          <a:xfrm>
            <a:off x="7149515" y="419252"/>
            <a:ext cx="213613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进程管理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06" name="textbox 606"/>
          <p:cNvSpPr/>
          <p:nvPr/>
        </p:nvSpPr>
        <p:spPr>
          <a:xfrm>
            <a:off x="5067376" y="419252"/>
            <a:ext cx="12407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sz="2400" b="1" kern="0" spc="-1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系统架构</a:t>
            </a:r>
            <a:endParaRPr sz="2400" dirty="0">
              <a:latin typeface="华文楷体" panose="02010600040101010101" pitchFamily="2" charset="-122"/>
              <a:ea typeface="华文楷体" panose="02010600040101010101" pitchFamily="2" charset="-122"/>
              <a:cs typeface="微软雅黑" panose="020B0503020204020204" charset="-122"/>
            </a:endParaRPr>
          </a:p>
        </p:txBody>
      </p:sp>
      <p:sp>
        <p:nvSpPr>
          <p:cNvPr id="608" name="textbox 608"/>
          <p:cNvSpPr/>
          <p:nvPr/>
        </p:nvSpPr>
        <p:spPr>
          <a:xfrm>
            <a:off x="11696243" y="419252"/>
            <a:ext cx="1228089" cy="350520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7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89000"/>
              </a:lnSpc>
            </a:pPr>
            <a:r>
              <a:rPr lang="zh-CN" sz="2400" b="1" kern="0" spc="-30" dirty="0">
                <a:solidFill>
                  <a:srgbClr val="808080">
                    <a:alpha val="100000"/>
                  </a:srgbClr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文件系统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636395" y="7221855"/>
            <a:ext cx="6096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支持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FAT32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和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EXT4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统一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VFS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抽象层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I/O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多路复用支持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2391834" y="7303325"/>
            <a:ext cx="6096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支持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TCP/UDP/Unix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域套接字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IPv4/IPv6</a:t>
            </a: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双栈协议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zh-CN" altLang="en-US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零拷贝网络</a:t>
            </a:r>
            <a:r>
              <a:rPr lang="en-US" altLang="zh-CN" sz="2800" dirty="0">
                <a:latin typeface="华文楷体" panose="02010600040101010101" pitchFamily="2" charset="-122"/>
                <a:ea typeface="华文楷体" panose="02010600040101010101" pitchFamily="2" charset="-122"/>
                <a:cs typeface="微软雅黑" panose="020B0503020204020204" charset="-122"/>
              </a:rPr>
              <a:t>I/O	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ect 646"/>
          <p:cNvSpPr/>
          <p:nvPr/>
        </p:nvSpPr>
        <p:spPr>
          <a:xfrm>
            <a:off x="0" y="0"/>
            <a:ext cx="18288000" cy="10286997"/>
          </a:xfrm>
          <a:prstGeom prst="rect">
            <a:avLst/>
          </a:prstGeom>
          <a:solidFill>
            <a:srgbClr val="F2F2F2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/>
            <a:endParaRPr lang="zh-CN" altLang="en-US"/>
          </a:p>
        </p:txBody>
      </p:sp>
      <p:pic>
        <p:nvPicPr>
          <p:cNvPr id="648" name="picture 6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600000">
            <a:off x="0" y="3181476"/>
            <a:ext cx="18288000" cy="4573397"/>
          </a:xfrm>
          <a:prstGeom prst="rect">
            <a:avLst/>
          </a:prstGeom>
        </p:spPr>
      </p:pic>
      <p:pic>
        <p:nvPicPr>
          <p:cNvPr id="650" name="picture 65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600000">
            <a:off x="12848183" y="110273"/>
            <a:ext cx="5323357" cy="1242529"/>
          </a:xfrm>
          <a:prstGeom prst="rect">
            <a:avLst/>
          </a:prstGeom>
        </p:spPr>
      </p:pic>
      <p:sp>
        <p:nvSpPr>
          <p:cNvPr id="652" name="textbox 652"/>
          <p:cNvSpPr/>
          <p:nvPr/>
        </p:nvSpPr>
        <p:spPr>
          <a:xfrm>
            <a:off x="7721269" y="4820310"/>
            <a:ext cx="3575684" cy="1364614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algn="l" rtl="0" eaLnBrk="0">
              <a:lnSpc>
                <a:spcPct val="38000"/>
              </a:lnSpc>
            </a:pPr>
            <a:endParaRPr sz="100" dirty="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12700" algn="l" rtl="0" eaLnBrk="0">
              <a:lnSpc>
                <a:spcPct val="96000"/>
              </a:lnSpc>
            </a:pPr>
            <a:r>
              <a:rPr sz="9200" b="1" kern="0" spc="-800" dirty="0">
                <a:solidFill>
                  <a:srgbClr val="F2F2F2">
                    <a:alpha val="10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谢谢！</a:t>
            </a:r>
            <a:endParaRPr sz="9200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WPP_GENERATETEXT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WPP_GENERATETEXT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159*600"/>
  <p:tag name="TABLE_ENDDRAG_RECT" val="155*182*1159*600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satMod val="110000"/>
                <a:lum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satMod val="105000"/>
                <a:lum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shade val="94000"/>
              </a:schemeClr>
            </a:gs>
            <a:gs pos="50000">
              <a:schemeClr val="phClr">
                <a:lumMod val="110000"/>
                <a:satMod val="100000"/>
                <a:tint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1261</Words>
  <Application>Microsoft Office PowerPoint</Application>
  <PresentationFormat>自定义</PresentationFormat>
  <Paragraphs>462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华文楷体</vt:lpstr>
      <vt:lpstr>楷体</vt:lpstr>
      <vt:lpstr>宋体</vt:lpstr>
      <vt:lpstr>微软雅黑</vt:lpstr>
      <vt:lpstr>Arial</vt:lpstr>
      <vt:lpstr>Calibri</vt:lpstr>
      <vt:lpstr>Times New Roman</vt:lpstr>
      <vt:lpstr>Viner Hand ITC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Pantheon 杭州电子科技大学.pptx</dc:title>
  <dc:creator>Asus</dc:creator>
  <cp:lastModifiedBy>晨涛 陆</cp:lastModifiedBy>
  <cp:revision>96</cp:revision>
  <dcterms:created xsi:type="dcterms:W3CDTF">2025-06-29T06:01:00Z</dcterms:created>
  <dcterms:modified xsi:type="dcterms:W3CDTF">2025-06-30T05:56:11Z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O">
    <vt:lpwstr>wqlLaW5nc29mdCBQREYgdG8gV1BTIDExMA</vt:lpwstr>
  </property>
  <property fmtid="{D5CDD505-2E9C-101B-9397-08002B2CF9AE}" pid="3" name="Created">
    <vt:filetime>2025-06-30T13:57:23Z</vt:filetime>
  </property>
  <property fmtid="{D5CDD505-2E9C-101B-9397-08002B2CF9AE}" pid="4" name="ICV">
    <vt:lpwstr>B373701A4B7F47968A06E789927AD05B_13</vt:lpwstr>
  </property>
  <property fmtid="{D5CDD505-2E9C-101B-9397-08002B2CF9AE}" pid="5" name="KSOProductBuildVer">
    <vt:lpwstr>2052-12.1.0.21541</vt:lpwstr>
  </property>
</Properties>
</file>