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4" r:id="rId5"/>
    <p:sldId id="265" r:id="rId6"/>
    <p:sldId id="266" r:id="rId7"/>
    <p:sldId id="267" r:id="rId8"/>
    <p:sldId id="288" r:id="rId9"/>
    <p:sldId id="290" r:id="rId10"/>
    <p:sldId id="289" r:id="rId11"/>
    <p:sldId id="272" r:id="rId12"/>
    <p:sldId id="273" r:id="rId13"/>
    <p:sldId id="292" r:id="rId14"/>
    <p:sldId id="291" r:id="rId15"/>
    <p:sldId id="276" r:id="rId16"/>
    <p:sldId id="277" r:id="rId17"/>
    <p:sldId id="297" r:id="rId18"/>
    <p:sldId id="296" r:id="rId19"/>
    <p:sldId id="279" r:id="rId20"/>
    <p:sldId id="280" r:id="rId21"/>
    <p:sldId id="295" r:id="rId22"/>
    <p:sldId id="282" r:id="rId23"/>
    <p:sldId id="283" r:id="rId24"/>
    <p:sldId id="284" r:id="rId25"/>
    <p:sldId id="285" r:id="rId26"/>
    <p:sldId id="286" r:id="rId27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" name="group 2"/>
          <p:cNvGrpSpPr/>
          <p:nvPr/>
        </p:nvGrpSpPr>
        <p:grpSpPr>
          <a:xfrm rot="21600000">
            <a:off x="0" y="3181476"/>
            <a:ext cx="18288000" cy="4573397"/>
            <a:chOff x="0" y="0"/>
            <a:chExt cx="18288000" cy="4573397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8288000" cy="4573397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-12700" y="-12700"/>
              <a:ext cx="18313400" cy="48183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422900" algn="just" rtl="0" eaLnBrk="0">
                <a:lnSpc>
                  <a:spcPct val="84000"/>
                </a:lnSpc>
              </a:pPr>
              <a:r>
                <a:rPr lang="en-US" sz="9000" b="1" kern="0" spc="-80" dirty="0">
                  <a:solidFill>
                    <a:srgbClr val="F2F2F2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StarryX</a:t>
              </a:r>
              <a:r>
                <a:rPr sz="9000" b="1" kern="0" spc="-80" dirty="0">
                  <a:solidFill>
                    <a:srgbClr val="F2F2F2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O</a:t>
              </a:r>
              <a:r>
                <a:rPr sz="9000" b="1" kern="0" spc="-90" dirty="0">
                  <a:solidFill>
                    <a:srgbClr val="F2F2F2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</a:t>
              </a:r>
              <a:endParaRPr sz="9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48183" y="148373"/>
            <a:ext cx="5323357" cy="124252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7972425" y="8441055"/>
            <a:ext cx="4119245" cy="431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000" b="1" kern="0" spc="-1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主讲人：</a:t>
            </a:r>
            <a:r>
              <a:rPr lang="zh-CN" sz="3000" b="1" kern="0" spc="-1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陆晨涛</a:t>
            </a:r>
            <a:r>
              <a:rPr lang="en-US" altLang="zh-CN" sz="3000" b="1" kern="0" spc="-1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000" b="1" kern="0" spc="-1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祖启</a:t>
            </a:r>
            <a:r>
              <a:rPr lang="zh-CN" altLang="en-US" sz="3000" b="1" kern="0" spc="-1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松</a:t>
            </a:r>
            <a:endParaRPr lang="zh-CN" altLang="en-US" sz="3000" b="1" kern="0" spc="-10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5527" y="357568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 52"/>
          <p:cNvSpPr/>
          <p:nvPr/>
        </p:nvSpPr>
        <p:spPr>
          <a:xfrm>
            <a:off x="2477" y="0"/>
            <a:ext cx="18285522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0" y="2838450"/>
            <a:ext cx="5791200" cy="4610100"/>
            <a:chOff x="0" y="0"/>
            <a:chExt cx="5791200" cy="4610100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5791200" cy="4610100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-12700" y="-12700"/>
              <a:ext cx="5816600" cy="47186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54125" algn="l" rtl="0" eaLnBrk="0">
                <a:lnSpc>
                  <a:spcPct val="90000"/>
                </a:lnSpc>
              </a:pPr>
              <a:r>
                <a:rPr sz="8700" b="1" kern="0" spc="-4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sz="8700" b="1" kern="0" spc="1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8700" b="1" kern="0" spc="-4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  <a:endParaRPr sz="8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5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08380" algn="l" rtl="0" eaLnBrk="0">
                <a:lnSpc>
                  <a:spcPct val="81000"/>
                </a:lnSpc>
                <a:spcBef>
                  <a:spcPts val="5"/>
                </a:spcBef>
              </a:pPr>
              <a:r>
                <a:rPr sz="39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CONTENTS</a:t>
              </a:r>
              <a:endParaRPr sz="3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8" name="textbox 58"/>
          <p:cNvSpPr/>
          <p:nvPr/>
        </p:nvSpPr>
        <p:spPr>
          <a:xfrm>
            <a:off x="10120376" y="2521203"/>
            <a:ext cx="4976495" cy="866139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4275" algn="l" rtl="0" eaLnBrk="0">
              <a:lnSpc>
                <a:spcPct val="89000"/>
              </a:lnSpc>
            </a:pPr>
            <a:r>
              <a:rPr lang="en-US" sz="30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30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0120376" y="3973067"/>
            <a:ext cx="4976495" cy="866139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1415" algn="l" rtl="0" eaLnBrk="0">
              <a:lnSpc>
                <a:spcPct val="89000"/>
              </a:lnSpc>
              <a:spcBef>
                <a:spcPts val="0"/>
              </a:spcBef>
            </a:pPr>
            <a:r>
              <a:rPr lang="en-US" altLang="zh-CN" sz="3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sz="3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3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3000" b="1" kern="0" spc="-1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10120376" y="6876922"/>
            <a:ext cx="4976495" cy="866139"/>
          </a:xfrm>
          <a:prstGeom prst="rect">
            <a:avLst/>
          </a:prstGeom>
          <a:solidFill>
            <a:srgbClr val="0070C0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65300" algn="l" rtl="0" eaLnBrk="0">
              <a:lnSpc>
                <a:spcPct val="89000"/>
              </a:lnSpc>
              <a:spcBef>
                <a:spcPts val="5"/>
              </a:spcBef>
            </a:pPr>
            <a:r>
              <a:rPr lang="zh-CN" sz="3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网络模块</a:t>
            </a:r>
            <a:endParaRPr lang="zh-CN"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0120376" y="1045336"/>
            <a:ext cx="4976495" cy="866139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32280" algn="l" rtl="0" eaLnBrk="0">
              <a:lnSpc>
                <a:spcPct val="89000"/>
              </a:lnSpc>
            </a:pPr>
            <a:r>
              <a:rPr sz="30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0120376" y="8328786"/>
            <a:ext cx="4976495" cy="866139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2190" algn="l" rtl="0" eaLnBrk="0">
              <a:lnSpc>
                <a:spcPct val="89000"/>
              </a:lnSpc>
              <a:spcBef>
                <a:spcPts val="5"/>
              </a:spcBef>
            </a:pPr>
            <a:r>
              <a:rPr sz="30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0120376" y="5425059"/>
            <a:ext cx="4976495" cy="866139"/>
          </a:xfrm>
          <a:prstGeom prst="rect">
            <a:avLst/>
          </a:prstGeom>
          <a:solidFill>
            <a:srgbClr val="0070C0">
              <a:alpha val="9568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r>
              <a:rPr lang="en-US" sz="3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</a:t>
            </a:r>
            <a:r>
              <a:rPr sz="3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文件系统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48155" algn="l" rtl="0" eaLnBrk="0">
              <a:lnSpc>
                <a:spcPct val="89000"/>
              </a:lnSpc>
              <a:spcBef>
                <a:spcPts val="0"/>
              </a:spcBef>
            </a:pP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48155" algn="l" rtl="0" eaLnBrk="0">
              <a:lnSpc>
                <a:spcPct val="89000"/>
              </a:lnSpc>
              <a:spcBef>
                <a:spcPts val="0"/>
              </a:spcBef>
            </a:pP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8463026" y="2521203"/>
            <a:ext cx="1366647" cy="865759"/>
            <a:chOff x="0" y="0"/>
            <a:chExt cx="1366647" cy="865759"/>
          </a:xfrm>
        </p:grpSpPr>
        <p:sp>
          <p:nvSpPr>
            <p:cNvPr id="70" name="path 70"/>
            <p:cNvSpPr/>
            <p:nvPr/>
          </p:nvSpPr>
          <p:spPr>
            <a:xfrm>
              <a:off x="0" y="0"/>
              <a:ext cx="1366647" cy="865759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8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" name="textbox 72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8463026" y="3973067"/>
            <a:ext cx="1366647" cy="865759"/>
            <a:chOff x="0" y="0"/>
            <a:chExt cx="1366647" cy="865759"/>
          </a:xfrm>
        </p:grpSpPr>
        <p:sp>
          <p:nvSpPr>
            <p:cNvPr id="74" name="path 74"/>
            <p:cNvSpPr/>
            <p:nvPr/>
          </p:nvSpPr>
          <p:spPr>
            <a:xfrm>
              <a:off x="0" y="0"/>
              <a:ext cx="1366647" cy="865759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7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" name="textbox 76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8463026" y="6876922"/>
            <a:ext cx="1366647" cy="865759"/>
            <a:chOff x="0" y="0"/>
            <a:chExt cx="1366647" cy="865759"/>
          </a:xfrm>
        </p:grpSpPr>
        <p:sp>
          <p:nvSpPr>
            <p:cNvPr id="78" name="path 78"/>
            <p:cNvSpPr/>
            <p:nvPr/>
          </p:nvSpPr>
          <p:spPr>
            <a:xfrm>
              <a:off x="0" y="0"/>
              <a:ext cx="1366647" cy="865759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8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" name="textbox 80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8463026" y="1045336"/>
            <a:ext cx="1366647" cy="865758"/>
            <a:chOff x="0" y="0"/>
            <a:chExt cx="1366647" cy="865758"/>
          </a:xfrm>
        </p:grpSpPr>
        <p:sp>
          <p:nvSpPr>
            <p:cNvPr id="82" name="path 82"/>
            <p:cNvSpPr/>
            <p:nvPr/>
          </p:nvSpPr>
          <p:spPr>
            <a:xfrm>
              <a:off x="0" y="0"/>
              <a:ext cx="1366647" cy="865758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7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" name="textbox 84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8463026" y="8328786"/>
            <a:ext cx="1366647" cy="865733"/>
            <a:chOff x="0" y="0"/>
            <a:chExt cx="1366647" cy="865733"/>
          </a:xfrm>
        </p:grpSpPr>
        <p:sp>
          <p:nvSpPr>
            <p:cNvPr id="86" name="path 86"/>
            <p:cNvSpPr/>
            <p:nvPr/>
          </p:nvSpPr>
          <p:spPr>
            <a:xfrm>
              <a:off x="0" y="0"/>
              <a:ext cx="1366647" cy="865733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8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8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" name="textbox 88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06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8463026" y="5425059"/>
            <a:ext cx="1366647" cy="865631"/>
            <a:chOff x="0" y="0"/>
            <a:chExt cx="1366647" cy="865631"/>
          </a:xfrm>
        </p:grpSpPr>
        <p:sp>
          <p:nvSpPr>
            <p:cNvPr id="90" name="path 90"/>
            <p:cNvSpPr/>
            <p:nvPr/>
          </p:nvSpPr>
          <p:spPr>
            <a:xfrm>
              <a:off x="0" y="0"/>
              <a:ext cx="1366647" cy="865631"/>
            </a:xfrm>
            <a:custGeom>
              <a:avLst/>
              <a:gdLst/>
              <a:ahLst/>
              <a:cxnLst/>
              <a:rect l="0" t="0" r="0" b="0"/>
              <a:pathLst>
                <a:path w="2152" h="1363">
                  <a:moveTo>
                    <a:pt x="0" y="681"/>
                  </a:moveTo>
                  <a:cubicBezTo>
                    <a:pt x="0" y="305"/>
                    <a:pt x="305" y="0"/>
                    <a:pt x="681" y="0"/>
                  </a:cubicBezTo>
                  <a:lnTo>
                    <a:pt x="1470" y="0"/>
                  </a:lnTo>
                  <a:cubicBezTo>
                    <a:pt x="1847" y="0"/>
                    <a:pt x="2152" y="305"/>
                    <a:pt x="2152" y="681"/>
                  </a:cubicBezTo>
                  <a:cubicBezTo>
                    <a:pt x="2152" y="1057"/>
                    <a:pt x="1847" y="1363"/>
                    <a:pt x="1470" y="1363"/>
                  </a:cubicBezTo>
                  <a:lnTo>
                    <a:pt x="681" y="1363"/>
                  </a:lnTo>
                  <a:cubicBezTo>
                    <a:pt x="305" y="1363"/>
                    <a:pt x="0" y="1057"/>
                    <a:pt x="0" y="681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" name="textbox 92"/>
            <p:cNvSpPr/>
            <p:nvPr/>
          </p:nvSpPr>
          <p:spPr>
            <a:xfrm>
              <a:off x="-12700" y="-12700"/>
              <a:ext cx="1392555" cy="8915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720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27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 94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rect 96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7062139" y="6929856"/>
            <a:ext cx="446976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8100" b="1" kern="0" spc="64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8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7989470" y="4572979"/>
            <a:ext cx="2312692" cy="2057875"/>
            <a:chOff x="0" y="0"/>
            <a:chExt cx="2312692" cy="2057875"/>
          </a:xfrm>
        </p:grpSpPr>
        <p:pic>
          <p:nvPicPr>
            <p:cNvPr id="102" name="picture 10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312692" cy="2057875"/>
            </a:xfrm>
            <a:prstGeom prst="rect">
              <a:avLst/>
            </a:prstGeom>
          </p:spPr>
        </p:pic>
        <p:sp>
          <p:nvSpPr>
            <p:cNvPr id="104" name="textbox 104"/>
            <p:cNvSpPr/>
            <p:nvPr/>
          </p:nvSpPr>
          <p:spPr>
            <a:xfrm>
              <a:off x="-12700" y="-12700"/>
              <a:ext cx="2338704" cy="2083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1795" algn="l" rtl="0" eaLnBrk="0">
                <a:lnSpc>
                  <a:spcPct val="89000"/>
                </a:lnSpc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Part.01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06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000" y="243014"/>
            <a:ext cx="4407433" cy="9141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 108"/>
          <p:cNvSpPr/>
          <p:nvPr/>
        </p:nvSpPr>
        <p:spPr>
          <a:xfrm>
            <a:off x="0" y="0"/>
            <a:ext cx="18268950" cy="1022879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rect 112"/>
          <p:cNvSpPr/>
          <p:nvPr/>
        </p:nvSpPr>
        <p:spPr>
          <a:xfrm>
            <a:off x="0" y="0"/>
            <a:ext cx="18288000" cy="1247131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19417" y="151447"/>
            <a:ext cx="3790314" cy="918273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4615941" y="0"/>
            <a:ext cx="2139314" cy="107378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685125" y="1467370"/>
            <a:ext cx="164274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1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3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2400" b="1" kern="0" spc="-1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sz="2400" b="1" kern="0" spc="-3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4705330" y="419100"/>
            <a:ext cx="130492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sz="2400" b="1" kern="0" spc="-3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7" descr="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745" y="1317625"/>
            <a:ext cx="6417310" cy="87356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56895" y="2436495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我们将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StarryX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的实现划分为三大部分：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7765" y="3683000"/>
            <a:ext cx="5311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21765" y="4031615"/>
            <a:ext cx="7406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1.Starry Core</a:t>
            </a:r>
            <a:r>
              <a:rPr lang="zh-CN" altLang="en-US" sz="2800" b="1"/>
              <a:t>：关于宏内核的核心逻辑实现。</a:t>
            </a:r>
            <a:endParaRPr lang="zh-CN" altLang="en-US" sz="2800" b="1"/>
          </a:p>
        </p:txBody>
      </p:sp>
      <p:sp>
        <p:nvSpPr>
          <p:cNvPr id="5" name="文本框 4"/>
          <p:cNvSpPr txBox="1"/>
          <p:nvPr/>
        </p:nvSpPr>
        <p:spPr>
          <a:xfrm>
            <a:off x="1421765" y="5298440"/>
            <a:ext cx="7745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2.Starry API</a:t>
            </a:r>
            <a:r>
              <a:rPr lang="zh-CN" altLang="en-US" sz="2800" b="1"/>
              <a:t>：关于</a:t>
            </a:r>
            <a:r>
              <a:rPr lang="en-US" altLang="zh-CN" sz="2800" b="1"/>
              <a:t>POSIX API</a:t>
            </a:r>
            <a:r>
              <a:rPr lang="zh-CN" altLang="en-US" sz="2800" b="1"/>
              <a:t>的核心逻辑实现。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1421765" y="6660515"/>
            <a:ext cx="96170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3.Starry Modules</a:t>
            </a:r>
            <a:r>
              <a:rPr lang="zh-CN" altLang="en-US" sz="2800" b="1"/>
              <a:t>：支持宏内核实现</a:t>
            </a:r>
            <a:r>
              <a:rPr lang="en-US" altLang="zh-CN" sz="2800" b="1"/>
              <a:t>POSIX</a:t>
            </a:r>
            <a:r>
              <a:rPr lang="zh-CN" altLang="en-US" sz="2800" b="1"/>
              <a:t>接口的关键组件。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 13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rect 132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textbox 134"/>
          <p:cNvSpPr/>
          <p:nvPr/>
        </p:nvSpPr>
        <p:spPr>
          <a:xfrm>
            <a:off x="5249240" y="6929856"/>
            <a:ext cx="7833994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8100" b="1" kern="0" spc="68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8100" b="1" kern="0" spc="68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8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7989470" y="4572979"/>
            <a:ext cx="2312692" cy="2057875"/>
            <a:chOff x="0" y="0"/>
            <a:chExt cx="2312692" cy="2057875"/>
          </a:xfrm>
        </p:grpSpPr>
        <p:pic>
          <p:nvPicPr>
            <p:cNvPr id="138" name="picture 1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312692" cy="2057875"/>
            </a:xfrm>
            <a:prstGeom prst="rect">
              <a:avLst/>
            </a:prstGeom>
          </p:spPr>
        </p:pic>
        <p:sp>
          <p:nvSpPr>
            <p:cNvPr id="140" name="textbox 140"/>
            <p:cNvSpPr/>
            <p:nvPr/>
          </p:nvSpPr>
          <p:spPr>
            <a:xfrm>
              <a:off x="-12700" y="-12700"/>
              <a:ext cx="2338704" cy="2083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1795" algn="l" rtl="0" eaLnBrk="0">
                <a:lnSpc>
                  <a:spcPct val="89000"/>
                </a:lnSpc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Part.02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42" name="picture 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17998"/>
            <a:ext cx="18288000" cy="1026899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0" y="0"/>
            <a:ext cx="18288000" cy="1224268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05774" y="5988228"/>
            <a:ext cx="1650682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0272" y="9263583"/>
            <a:ext cx="11694159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1003021" y="1628311"/>
            <a:ext cx="684466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7087743" y="0"/>
            <a:ext cx="2236470" cy="10712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内存管理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文件系统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4705330" y="419100"/>
            <a:ext cx="128333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网络模块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4" descr="shm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815" y="1146175"/>
            <a:ext cx="4947920" cy="8858250"/>
          </a:xfrm>
          <a:prstGeom prst="rect">
            <a:avLst/>
          </a:prstGeom>
        </p:spPr>
      </p:pic>
      <p:pic>
        <p:nvPicPr>
          <p:cNvPr id="6" name="图片 2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" y="1146175"/>
            <a:ext cx="4370070" cy="89039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000625" y="3842385"/>
            <a:ext cx="7105015" cy="149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/>
              <a:t>StarryX </a:t>
            </a:r>
            <a:r>
              <a:rPr lang="zh-CN" altLang="en-US" sz="2800" b="1"/>
              <a:t>主要通过调用</a:t>
            </a:r>
            <a:r>
              <a:rPr lang="en-US" altLang="zh-CN" sz="2800" b="1"/>
              <a:t> ArceOS </a:t>
            </a:r>
            <a:r>
              <a:rPr lang="zh-CN" altLang="en-US" sz="2800" b="1"/>
              <a:t>提供的任务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创建接口来创建新的内核任务调度实体，实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现了完整的进程层次结构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17998"/>
            <a:ext cx="18288000" cy="1026899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0" y="0"/>
            <a:ext cx="18288000" cy="1224268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05774" y="5988228"/>
            <a:ext cx="1650682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0272" y="9263583"/>
            <a:ext cx="11694159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1003021" y="1628311"/>
            <a:ext cx="684466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7087743" y="0"/>
            <a:ext cx="2236470" cy="10712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内存管理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文件系统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4705330" y="419100"/>
            <a:ext cx="128333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网络模块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5510" y="3609340"/>
            <a:ext cx="66624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StarryX </a:t>
            </a:r>
            <a:r>
              <a:rPr lang="zh-CN" altLang="en-US" sz="2800" b="1"/>
              <a:t>支持多种可插拔的调度算法：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en-US" altLang="en-US" sz="2800" b="1"/>
              <a:t></a:t>
            </a:r>
            <a:r>
              <a:rPr lang="en-US" altLang="zh-CN" sz="2800" b="1"/>
              <a:t>FIFO</a:t>
            </a:r>
            <a:r>
              <a:rPr lang="zh-CN" altLang="en-US" sz="2800" b="1"/>
              <a:t>：先进先出（默认）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en-US" altLang="en-US" sz="2800" b="1"/>
              <a:t></a:t>
            </a:r>
            <a:r>
              <a:rPr lang="en-US" altLang="zh-CN" sz="2800" b="1"/>
              <a:t>RR</a:t>
            </a:r>
            <a:r>
              <a:rPr lang="zh-CN" altLang="en-US" sz="2800" b="1"/>
              <a:t>：轮转调度（时间片轮转）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en-US" altLang="en-US" sz="2800" b="1"/>
              <a:t></a:t>
            </a:r>
            <a:r>
              <a:rPr lang="en-US" altLang="zh-CN" sz="2800" b="1"/>
              <a:t>CFS</a:t>
            </a:r>
            <a:r>
              <a:rPr lang="zh-CN" altLang="en-US" sz="2800" b="1"/>
              <a:t>：完全公平调度器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这些调度算法后会在编译特性时进行选择</a:t>
            </a:r>
            <a:endParaRPr lang="zh-CN" altLang="en-US" sz="2800" b="1"/>
          </a:p>
        </p:txBody>
      </p:sp>
      <p:pic>
        <p:nvPicPr>
          <p:cNvPr id="13" name="图片 6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785" y="2811780"/>
            <a:ext cx="8464550" cy="63188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1988165" y="194310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任务状态转换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17998"/>
            <a:ext cx="18288000" cy="1026899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0" y="0"/>
            <a:ext cx="18288000" cy="1224268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05774" y="5988228"/>
            <a:ext cx="1650682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0272" y="9263583"/>
            <a:ext cx="11694159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1003021" y="1628311"/>
            <a:ext cx="684466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7087743" y="0"/>
            <a:ext cx="2236470" cy="10712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内存管理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文件系统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4705330" y="419100"/>
            <a:ext cx="128333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网络模块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1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840" y="1704340"/>
            <a:ext cx="6921500" cy="6131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27685" y="3759835"/>
            <a:ext cx="784034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Starry X </a:t>
            </a:r>
            <a:r>
              <a:rPr lang="zh-CN" altLang="en-US" sz="2800" b="1"/>
              <a:t>实现了经典</a:t>
            </a:r>
            <a:r>
              <a:rPr lang="en-US" altLang="zh-CN" sz="2800" b="1"/>
              <a:t>UNIX System V IPC</a:t>
            </a:r>
            <a:r>
              <a:rPr lang="zh-CN" altLang="en-US" sz="2800" b="1"/>
              <a:t>机制，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包括消息队列、信号量和共享内存。</a:t>
            </a:r>
            <a:endParaRPr lang="zh-CN" altLang="en-US" sz="2800" b="1"/>
          </a:p>
        </p:txBody>
      </p:sp>
      <p:sp>
        <p:nvSpPr>
          <p:cNvPr id="4" name="文本框 3"/>
          <p:cNvSpPr txBox="1"/>
          <p:nvPr/>
        </p:nvSpPr>
        <p:spPr>
          <a:xfrm>
            <a:off x="800100" y="8468995"/>
            <a:ext cx="163125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通过全局静态变量</a:t>
            </a:r>
            <a:r>
              <a:rPr lang="en-US" altLang="zh-CN" sz="2800" b="1"/>
              <a:t> IPC_MANAGER: ResArc&lt;Mutex&lt;IpcManager&gt;&gt;</a:t>
            </a:r>
            <a:r>
              <a:rPr lang="zh-CN" altLang="en-US" sz="2800" b="1"/>
              <a:t>，实现线程安全的</a:t>
            </a:r>
            <a:r>
              <a:rPr lang="en-US" altLang="zh-CN" sz="2800" b="1"/>
              <a:t> IPC </a:t>
            </a:r>
            <a:r>
              <a:rPr lang="zh-CN" altLang="en-US" sz="2800" b="1"/>
              <a:t>操作调度。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17998"/>
            <a:ext cx="18288000" cy="1026899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0" y="0"/>
            <a:ext cx="18288000" cy="1224268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905774" y="5988228"/>
            <a:ext cx="1650682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</a:t>
            </a:r>
            <a:r>
              <a:rPr sz="3200" b="1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00272" y="9263583"/>
            <a:ext cx="11694159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1003021" y="1628311"/>
            <a:ext cx="684466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7087743" y="0"/>
            <a:ext cx="2236470" cy="10712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975669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内存管理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602388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文件系统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4705330" y="419100"/>
            <a:ext cx="128333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网络模块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290" y="2701925"/>
            <a:ext cx="8218805" cy="58172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1466195" y="196469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/>
              <a:t>信号处理流程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805815" y="3031490"/>
            <a:ext cx="684466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任务在从内核态返回用户态的关键时刻，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会自动跳转到</a:t>
            </a:r>
            <a:r>
              <a:rPr lang="en-US" altLang="zh-CN" sz="2800" b="1"/>
              <a:t>check_signals()</a:t>
            </a:r>
            <a:r>
              <a:rPr lang="zh-CN" altLang="en-US" sz="2800" b="1"/>
              <a:t>函数内，检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查当前线程和进程是否有需要处理的待处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理信号。如果检测到信号，</a:t>
            </a:r>
            <a:r>
              <a:rPr lang="en-US" altLang="zh-CN" sz="2800" b="1"/>
              <a:t>StarryX</a:t>
            </a:r>
            <a:r>
              <a:rPr lang="zh-CN" altLang="en-US" sz="2800" b="1"/>
              <a:t>就会启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动完整的信号处理流程。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 27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8" name="rect 278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" name="textbox 280"/>
          <p:cNvSpPr/>
          <p:nvPr/>
        </p:nvSpPr>
        <p:spPr>
          <a:xfrm>
            <a:off x="5187518" y="6929856"/>
            <a:ext cx="789622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8100" b="1" kern="0" spc="75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sz="8100" b="1" kern="0" spc="75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8100" b="1" kern="0" spc="75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8100" b="1" kern="0" spc="750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 rot="21600000">
            <a:off x="7981950" y="4566284"/>
            <a:ext cx="2324100" cy="2068322"/>
            <a:chOff x="0" y="0"/>
            <a:chExt cx="2324100" cy="2068322"/>
          </a:xfrm>
        </p:grpSpPr>
        <p:pic>
          <p:nvPicPr>
            <p:cNvPr id="284" name="picture 28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324100" cy="2068322"/>
            </a:xfrm>
            <a:prstGeom prst="rect">
              <a:avLst/>
            </a:prstGeom>
          </p:spPr>
        </p:pic>
        <p:sp>
          <p:nvSpPr>
            <p:cNvPr id="286" name="textbox 286"/>
            <p:cNvSpPr/>
            <p:nvPr/>
          </p:nvSpPr>
          <p:spPr>
            <a:xfrm>
              <a:off x="-12700" y="-12700"/>
              <a:ext cx="2349500" cy="2094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03860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3600" kern="0" spc="-6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Part.03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88" name="picture 2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 2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2700"/>
            <a:ext cx="18288000" cy="1270000"/>
          </a:xfrm>
          <a:prstGeom prst="rect">
            <a:avLst/>
          </a:prstGeom>
        </p:spPr>
      </p:pic>
      <p:sp>
        <p:nvSpPr>
          <p:cNvPr id="298" name="rect 298"/>
          <p:cNvSpPr/>
          <p:nvPr/>
        </p:nvSpPr>
        <p:spPr>
          <a:xfrm>
            <a:off x="9447784" y="12966"/>
            <a:ext cx="2233294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" name="textbox 300"/>
          <p:cNvSpPr/>
          <p:nvPr/>
        </p:nvSpPr>
        <p:spPr>
          <a:xfrm>
            <a:off x="5067376" y="419252"/>
            <a:ext cx="1220596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         进程管理      </a:t>
            </a:r>
            <a:r>
              <a:rPr lang="en-US"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内存管理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" y="1767205"/>
            <a:ext cx="8689340" cy="80505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620885" y="4020820"/>
            <a:ext cx="785177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StarryX </a:t>
            </a:r>
            <a:r>
              <a:rPr lang="zh-CN" altLang="en-US" sz="2800" b="1"/>
              <a:t>内存管理系统采用现代操作系统的分层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架构设计，提供从物理内存管理到用户空间虚拟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内存的完整解决方案。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 2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2700"/>
            <a:ext cx="18288000" cy="1270000"/>
          </a:xfrm>
          <a:prstGeom prst="rect">
            <a:avLst/>
          </a:prstGeom>
        </p:spPr>
      </p:pic>
      <p:sp>
        <p:nvSpPr>
          <p:cNvPr id="298" name="rect 298"/>
          <p:cNvSpPr/>
          <p:nvPr/>
        </p:nvSpPr>
        <p:spPr>
          <a:xfrm>
            <a:off x="9447784" y="12966"/>
            <a:ext cx="2233294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" name="textbox 300"/>
          <p:cNvSpPr/>
          <p:nvPr/>
        </p:nvSpPr>
        <p:spPr>
          <a:xfrm>
            <a:off x="5067376" y="419252"/>
            <a:ext cx="1220596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         进程管理      </a:t>
            </a:r>
            <a:r>
              <a:rPr lang="en-US"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内存管理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615" y="1755140"/>
            <a:ext cx="5803265" cy="80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32790" y="2612390"/>
            <a:ext cx="898398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StarryX</a:t>
            </a:r>
            <a:r>
              <a:rPr lang="zh-CN" altLang="en-US" sz="2800" b="1"/>
              <a:t>启动了</a:t>
            </a:r>
            <a:r>
              <a:rPr lang="en-US" altLang="zh-CN" sz="2800" b="1"/>
              <a:t>paging</a:t>
            </a:r>
            <a:r>
              <a:rPr lang="zh-CN" altLang="en-US" sz="2800" b="1"/>
              <a:t>特性，为每个应用程序分配一个</a:t>
            </a:r>
            <a:endParaRPr lang="zh-CN" altLang="en-US" sz="2800" b="1"/>
          </a:p>
          <a:p>
            <a:r>
              <a:rPr lang="zh-CN" altLang="en-US" sz="2800" b="1"/>
              <a:t>独立的的虚拟地址空间，即</a:t>
            </a:r>
            <a:r>
              <a:rPr lang="en-US" altLang="zh-CN" sz="2800" b="1"/>
              <a:t>AddrSpace </a:t>
            </a:r>
            <a:r>
              <a:rPr lang="zh-CN" altLang="en-US" sz="2800" b="1"/>
              <a:t>结构体，用于管</a:t>
            </a:r>
            <a:endParaRPr lang="zh-CN" altLang="en-US" sz="2800" b="1"/>
          </a:p>
          <a:p>
            <a:r>
              <a:rPr lang="zh-CN" altLang="en-US" sz="2800" b="1"/>
              <a:t>理用户程序的内存空间。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进程地址空间分为用户空间和内核空间两部分，用户空间位于低地址，包括了代码段、数据段、堆、栈、内存映射区域。</a:t>
            </a:r>
            <a:endParaRPr lang="zh-CN" altLang="en-US" sz="2800" b="1"/>
          </a:p>
          <a:p>
            <a:endParaRPr lang="zh-CN" altLang="en-US" sz="2800" b="1"/>
          </a:p>
          <a:p>
            <a:r>
              <a:rPr lang="zh-CN" altLang="en-US" sz="2800" b="1"/>
              <a:t>内核空间位于高地址，包括了内核代码段、内核数据段、内核堆、内核栈、页表。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 2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2700"/>
            <a:ext cx="18288000" cy="1270000"/>
          </a:xfrm>
          <a:prstGeom prst="rect">
            <a:avLst/>
          </a:prstGeom>
        </p:spPr>
      </p:pic>
      <p:sp>
        <p:nvSpPr>
          <p:cNvPr id="298" name="rect 298"/>
          <p:cNvSpPr/>
          <p:nvPr/>
        </p:nvSpPr>
        <p:spPr>
          <a:xfrm>
            <a:off x="9447784" y="12966"/>
            <a:ext cx="2233294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" name="textbox 300"/>
          <p:cNvSpPr/>
          <p:nvPr/>
        </p:nvSpPr>
        <p:spPr>
          <a:xfrm>
            <a:off x="5067376" y="419252"/>
            <a:ext cx="1220596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         进程管理      </a:t>
            </a:r>
            <a:r>
              <a:rPr lang="en-US" sz="2400" b="1" kern="0" spc="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内存管理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sz="2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 37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8" name="rect 378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0" name="picture 3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6943166" y="6929856"/>
            <a:ext cx="4425950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8100" b="1" kern="0" spc="55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zh-CN" sz="8100" b="1" kern="0" spc="55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sz="8100" b="1" kern="0" spc="550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7981950" y="4566284"/>
            <a:ext cx="2324100" cy="2068322"/>
            <a:chOff x="0" y="0"/>
            <a:chExt cx="2324100" cy="2068322"/>
          </a:xfrm>
        </p:grpSpPr>
        <p:pic>
          <p:nvPicPr>
            <p:cNvPr id="384" name="picture 38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324100" cy="2068322"/>
            </a:xfrm>
            <a:prstGeom prst="rect">
              <a:avLst/>
            </a:prstGeom>
          </p:spPr>
        </p:pic>
        <p:sp>
          <p:nvSpPr>
            <p:cNvPr id="386" name="textbox 386"/>
            <p:cNvSpPr/>
            <p:nvPr/>
          </p:nvSpPr>
          <p:spPr>
            <a:xfrm>
              <a:off x="-12700" y="-12700"/>
              <a:ext cx="2349500" cy="2094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9415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Part.04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88" name="picture 3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 3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" name="rect 396"/>
          <p:cNvSpPr/>
          <p:nvPr/>
        </p:nvSpPr>
        <p:spPr>
          <a:xfrm>
            <a:off x="0" y="0"/>
            <a:ext cx="18288000" cy="1224159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02" name="rect 402"/>
          <p:cNvSpPr/>
          <p:nvPr/>
        </p:nvSpPr>
        <p:spPr>
          <a:xfrm>
            <a:off x="11505565" y="12"/>
            <a:ext cx="2233295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11986260" y="419100"/>
            <a:ext cx="38258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sz="2400" b="1" kern="0" spc="-2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925377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2400" b="1" kern="0" spc="-10" dirty="0">
              <a:solidFill>
                <a:srgbClr val="7F7F7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 3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" name="rect 396"/>
          <p:cNvSpPr/>
          <p:nvPr/>
        </p:nvSpPr>
        <p:spPr>
          <a:xfrm>
            <a:off x="0" y="0"/>
            <a:ext cx="18288000" cy="1224159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02" name="rect 402"/>
          <p:cNvSpPr/>
          <p:nvPr/>
        </p:nvSpPr>
        <p:spPr>
          <a:xfrm>
            <a:off x="11505565" y="12"/>
            <a:ext cx="2233295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11986260" y="419100"/>
            <a:ext cx="38258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sz="2400" b="1" kern="0" spc="-2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925377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2400" b="1" kern="0" spc="-10" dirty="0">
              <a:solidFill>
                <a:srgbClr val="7F7F7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 39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" name="rect 396"/>
          <p:cNvSpPr/>
          <p:nvPr/>
        </p:nvSpPr>
        <p:spPr>
          <a:xfrm>
            <a:off x="0" y="0"/>
            <a:ext cx="18288000" cy="1224159"/>
          </a:xfrm>
          <a:prstGeom prst="rect">
            <a:avLst/>
          </a:prstGeom>
          <a:solidFill>
            <a:srgbClr val="F1F1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02" name="rect 402"/>
          <p:cNvSpPr/>
          <p:nvPr/>
        </p:nvSpPr>
        <p:spPr>
          <a:xfrm>
            <a:off x="11505565" y="12"/>
            <a:ext cx="2233295" cy="1084821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11986260" y="419100"/>
            <a:ext cx="38258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r>
              <a:rPr lang="zh-CN"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sz="2400" b="1" kern="0" spc="-2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925377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2400" b="1" kern="0" spc="-10" dirty="0">
                <a:solidFill>
                  <a:srgbClr val="7F7F7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2400" b="1" kern="0" spc="-10" dirty="0">
              <a:solidFill>
                <a:srgbClr val="7F7F7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16642156" y="419252"/>
            <a:ext cx="63119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 454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rect 456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58" name="picture 4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sp>
        <p:nvSpPr>
          <p:cNvPr id="460" name="textbox 460"/>
          <p:cNvSpPr/>
          <p:nvPr/>
        </p:nvSpPr>
        <p:spPr>
          <a:xfrm>
            <a:off x="7093724" y="6942182"/>
            <a:ext cx="442912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81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r>
              <a:rPr lang="zh-CN" sz="81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sz="8100" b="1" kern="0" spc="0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7981950" y="4566284"/>
            <a:ext cx="2324100" cy="2068322"/>
            <a:chOff x="0" y="0"/>
            <a:chExt cx="2324100" cy="2068322"/>
          </a:xfrm>
        </p:grpSpPr>
        <p:pic>
          <p:nvPicPr>
            <p:cNvPr id="462" name="picture 4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324100" cy="2068322"/>
            </a:xfrm>
            <a:prstGeom prst="rect">
              <a:avLst/>
            </a:prstGeom>
          </p:spPr>
        </p:pic>
        <p:sp>
          <p:nvSpPr>
            <p:cNvPr id="464" name="textbox 464"/>
            <p:cNvSpPr/>
            <p:nvPr/>
          </p:nvSpPr>
          <p:spPr>
            <a:xfrm>
              <a:off x="-12700" y="-12700"/>
              <a:ext cx="2349500" cy="2094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9415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Part.05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66" name="picture 4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picture 4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8288000" cy="10286997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76" name="rect 476"/>
          <p:cNvSpPr/>
          <p:nvPr/>
        </p:nvSpPr>
        <p:spPr>
          <a:xfrm>
            <a:off x="13898371" y="37"/>
            <a:ext cx="1859661" cy="1091907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0" name="textbox 480"/>
          <p:cNvSpPr/>
          <p:nvPr/>
        </p:nvSpPr>
        <p:spPr>
          <a:xfrm>
            <a:off x="14295120" y="419100"/>
            <a:ext cx="27336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r>
              <a:rPr sz="24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sz="24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9429673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2400" b="1" kern="0" spc="-1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6972350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6" name="textbox 486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11905793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sz="2400" b="1" kern="0" spc="-3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2295" y="160147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b="1"/>
              <a:t>网络模块架构</a:t>
            </a:r>
            <a:endParaRPr lang="zh-CN" altLang="en-US" sz="2800" b="1"/>
          </a:p>
        </p:txBody>
      </p:sp>
      <p:pic>
        <p:nvPicPr>
          <p:cNvPr id="25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065" y="2428875"/>
            <a:ext cx="6506210" cy="74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9422765" y="3987165"/>
            <a:ext cx="832993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基于开源库</a:t>
            </a:r>
            <a:r>
              <a:rPr lang="en-US" altLang="zh-CN" sz="2800" b="1"/>
              <a:t> Smoltcp </a:t>
            </a:r>
            <a:r>
              <a:rPr lang="zh-CN" altLang="en-US" sz="2800" b="1"/>
              <a:t>开发</a:t>
            </a:r>
            <a:endParaRPr lang="zh-CN" altLang="en-US" sz="2800" b="1"/>
          </a:p>
          <a:p>
            <a:pPr algn="ctr"/>
            <a:endParaRPr lang="zh-CN" altLang="en-US" sz="2800" b="1"/>
          </a:p>
          <a:p>
            <a:pPr algn="ctr"/>
            <a:r>
              <a:rPr lang="zh-CN" altLang="en-US" sz="2800" b="1"/>
              <a:t>能够支持</a:t>
            </a:r>
            <a:r>
              <a:rPr lang="en-US" altLang="zh-CN" sz="2800" b="1"/>
              <a:t> no_std </a:t>
            </a:r>
            <a:r>
              <a:rPr lang="zh-CN" altLang="en-US" sz="2800" b="1"/>
              <a:t>环境</a:t>
            </a:r>
            <a:endParaRPr lang="zh-CN" altLang="en-US" sz="2800" b="1"/>
          </a:p>
          <a:p>
            <a:pPr algn="ctr"/>
            <a:endParaRPr lang="zh-CN" altLang="en-US" sz="2800" b="1"/>
          </a:p>
          <a:p>
            <a:pPr algn="ctr"/>
            <a:r>
              <a:rPr lang="zh-CN" altLang="en-US" sz="2800" b="1"/>
              <a:t>能够支持异步的网络信息接发操作</a:t>
            </a:r>
            <a:endParaRPr lang="zh-CN" altLang="en-US" sz="2800" b="1"/>
          </a:p>
          <a:p>
            <a:pPr algn="ctr"/>
            <a:endParaRPr lang="zh-CN" altLang="en-US" sz="2800" b="1"/>
          </a:p>
          <a:p>
            <a:pPr algn="ctr"/>
            <a:r>
              <a:rPr lang="zh-CN" altLang="en-US" sz="2800" b="1"/>
              <a:t>简易且高效的异步内核网络模块</a:t>
            </a:r>
            <a:endParaRPr lang="zh-CN" altLang="en-US" sz="2800" b="1"/>
          </a:p>
          <a:p>
            <a:endParaRPr lang="zh-CN" altLang="en-US" sz="28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picture 4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8288000" cy="10286997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476" name="rect 476"/>
          <p:cNvSpPr/>
          <p:nvPr/>
        </p:nvSpPr>
        <p:spPr>
          <a:xfrm>
            <a:off x="13898371" y="37"/>
            <a:ext cx="1859661" cy="1091907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0" name="textbox 480"/>
          <p:cNvSpPr/>
          <p:nvPr/>
        </p:nvSpPr>
        <p:spPr>
          <a:xfrm>
            <a:off x="14295120" y="419100"/>
            <a:ext cx="273367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r>
              <a:rPr sz="24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sz="24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400" b="1" kern="0" spc="-2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9429673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2400" b="1" kern="0" spc="-1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6972350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6" name="textbox 486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11905793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sz="2400" b="1" kern="0" spc="-3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015" y="3244850"/>
            <a:ext cx="14999970" cy="4919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00" y="197612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/>
              <a:t>网络</a:t>
            </a:r>
            <a:r>
              <a:rPr lang="en-US" altLang="zh-CN" sz="2800" b="1"/>
              <a:t>Socket</a:t>
            </a:r>
            <a:r>
              <a:rPr lang="zh-CN" altLang="en-US" sz="2800" b="1"/>
              <a:t>和文件系统的适配</a:t>
            </a:r>
            <a:endParaRPr lang="zh-CN" altLang="en-US" sz="2800" b="1"/>
          </a:p>
        </p:txBody>
      </p:sp>
      <p:sp>
        <p:nvSpPr>
          <p:cNvPr id="4" name="文本框 3"/>
          <p:cNvSpPr txBox="1"/>
          <p:nvPr/>
        </p:nvSpPr>
        <p:spPr>
          <a:xfrm>
            <a:off x="1300480" y="9076055"/>
            <a:ext cx="163728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tx1"/>
                </a:solidFill>
                <a:uFillTx/>
              </a:rPr>
              <a:t>设计符合</a:t>
            </a:r>
            <a:r>
              <a:rPr lang="en-US" altLang="zh-CN" sz="3200" b="1">
                <a:solidFill>
                  <a:schemeClr val="tx1"/>
                </a:solidFill>
                <a:uFillTx/>
              </a:rPr>
              <a:t>UNIX </a:t>
            </a:r>
            <a:r>
              <a:rPr lang="zh-CN" altLang="en-US" sz="3200" b="1">
                <a:solidFill>
                  <a:schemeClr val="tx1"/>
                </a:solidFill>
                <a:uFillTx/>
              </a:rPr>
              <a:t>哲学：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一切都是文件（</a:t>
            </a:r>
            <a:r>
              <a:rPr lang="en-US" altLang="zh-CN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Everything is a File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</a:rPr>
              <a:t>）</a:t>
            </a:r>
            <a:r>
              <a:rPr lang="zh-CN" altLang="en-US" sz="3200" b="1">
                <a:solidFill>
                  <a:schemeClr val="tx1"/>
                </a:solidFill>
                <a:uFillTx/>
              </a:rPr>
              <a:t>，且具有良好的扩展性</a:t>
            </a:r>
            <a:endParaRPr lang="zh-CN" altLang="en-US" sz="3200" b="1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 528"/>
          <p:cNvSpPr/>
          <p:nvPr/>
        </p:nvSpPr>
        <p:spPr>
          <a:xfrm>
            <a:off x="21517" y="0"/>
            <a:ext cx="18266481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0" name="rect 530"/>
          <p:cNvSpPr/>
          <p:nvPr/>
        </p:nvSpPr>
        <p:spPr>
          <a:xfrm>
            <a:off x="7" y="0"/>
            <a:ext cx="18287992" cy="5604636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32" name="picture 5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 rot="21600000">
            <a:off x="7981950" y="4566284"/>
            <a:ext cx="2324100" cy="2068322"/>
            <a:chOff x="0" y="0"/>
            <a:chExt cx="2324100" cy="2068322"/>
          </a:xfrm>
        </p:grpSpPr>
        <p:pic>
          <p:nvPicPr>
            <p:cNvPr id="534" name="picture 5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324100" cy="2068322"/>
            </a:xfrm>
            <a:prstGeom prst="rect">
              <a:avLst/>
            </a:prstGeom>
          </p:spPr>
        </p:pic>
        <p:sp>
          <p:nvSpPr>
            <p:cNvPr id="536" name="textbox 536"/>
            <p:cNvSpPr/>
            <p:nvPr/>
          </p:nvSpPr>
          <p:spPr>
            <a:xfrm>
              <a:off x="-12700" y="-12700"/>
              <a:ext cx="2349500" cy="2094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9415" algn="l" rtl="0" eaLnBrk="0">
                <a:lnSpc>
                  <a:spcPct val="89000"/>
                </a:lnSpc>
                <a:spcBef>
                  <a:spcPts val="0"/>
                </a:spcBef>
              </a:pPr>
              <a:r>
                <a:rPr sz="3600" b="1" kern="0" spc="-50" dirty="0">
                  <a:solidFill>
                    <a:srgbClr val="0070C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Part.06</a:t>
              </a:r>
              <a:endParaRPr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38" name="textbox 538"/>
          <p:cNvSpPr/>
          <p:nvPr/>
        </p:nvSpPr>
        <p:spPr>
          <a:xfrm>
            <a:off x="8024037" y="7024090"/>
            <a:ext cx="2183129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8100" b="1" kern="0" spc="38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8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0" name="picture 5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6137" y="168973"/>
            <a:ext cx="2938940" cy="6170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picture 5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8288000" cy="10286997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550" name="rect 550"/>
          <p:cNvSpPr/>
          <p:nvPr/>
        </p:nvSpPr>
        <p:spPr>
          <a:xfrm>
            <a:off x="16124682" y="64"/>
            <a:ext cx="1859661" cy="1103058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2" name="textbox 552"/>
          <p:cNvSpPr/>
          <p:nvPr/>
        </p:nvSpPr>
        <p:spPr>
          <a:xfrm>
            <a:off x="14018895" y="436880"/>
            <a:ext cx="464566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r>
              <a:rPr sz="2400" b="1" kern="0" spc="4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en-US" sz="2400" b="1" kern="0" spc="4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4" name="textbox 554"/>
          <p:cNvSpPr/>
          <p:nvPr/>
        </p:nvSpPr>
        <p:spPr>
          <a:xfrm>
            <a:off x="942903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2400" b="1" kern="0" spc="-1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6" name="textbox 556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8" name="textbox 558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0" name="textbox 560"/>
          <p:cNvSpPr/>
          <p:nvPr/>
        </p:nvSpPr>
        <p:spPr>
          <a:xfrm>
            <a:off x="11727358" y="43703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sz="2400" b="1" kern="0" spc="-3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picture 5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8288000" cy="10286997"/>
          </a:xfrm>
          <a:prstGeom prst="rect">
            <a:avLst/>
          </a:prstGeom>
        </p:spPr>
      </p:pic>
      <p:sp>
        <p:nvSpPr>
          <p:cNvPr id="564" name="textbox 564"/>
          <p:cNvSpPr/>
          <p:nvPr/>
        </p:nvSpPr>
        <p:spPr>
          <a:xfrm>
            <a:off x="368527" y="3699738"/>
            <a:ext cx="4293870" cy="2437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3600" b="1" kern="0" spc="-10" dirty="0">
                <a:solidFill>
                  <a:srgbClr val="0067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1975"/>
              </a:spcBef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6" name="textbox 566"/>
          <p:cNvSpPr/>
          <p:nvPr/>
        </p:nvSpPr>
        <p:spPr>
          <a:xfrm>
            <a:off x="13340587" y="3861917"/>
            <a:ext cx="4726304" cy="1776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600" b="1" kern="0" spc="-10" dirty="0">
                <a:solidFill>
                  <a:srgbClr val="0067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内存管理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1975"/>
              </a:spcBef>
            </a:pP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10584815" y="3259835"/>
            <a:ext cx="2639439" cy="3035173"/>
            <a:chOff x="0" y="0"/>
            <a:chExt cx="2639439" cy="3035173"/>
          </a:xfrm>
        </p:grpSpPr>
        <p:sp>
          <p:nvSpPr>
            <p:cNvPr id="568" name="path 568"/>
            <p:cNvSpPr/>
            <p:nvPr/>
          </p:nvSpPr>
          <p:spPr>
            <a:xfrm>
              <a:off x="0" y="0"/>
              <a:ext cx="2639439" cy="3035173"/>
            </a:xfrm>
            <a:custGeom>
              <a:avLst/>
              <a:gdLst/>
              <a:ahLst/>
              <a:cxnLst/>
              <a:rect l="0" t="0" r="0" b="0"/>
              <a:pathLst>
                <a:path w="4156" h="4779">
                  <a:moveTo>
                    <a:pt x="2078" y="0"/>
                  </a:moveTo>
                  <a:lnTo>
                    <a:pt x="4156" y="1039"/>
                  </a:lnTo>
                  <a:lnTo>
                    <a:pt x="4156" y="3740"/>
                  </a:lnTo>
                  <a:lnTo>
                    <a:pt x="2078" y="4779"/>
                  </a:lnTo>
                  <a:lnTo>
                    <a:pt x="0" y="3740"/>
                  </a:lnTo>
                  <a:lnTo>
                    <a:pt x="0" y="1039"/>
                  </a:lnTo>
                  <a:lnTo>
                    <a:pt x="2078" y="0"/>
                  </a:lnTo>
                  <a:close/>
                </a:path>
              </a:pathLst>
            </a:cu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0" name="textbox 570"/>
            <p:cNvSpPr/>
            <p:nvPr/>
          </p:nvSpPr>
          <p:spPr>
            <a:xfrm>
              <a:off x="-12700" y="-12700"/>
              <a:ext cx="2665095" cy="306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10235" algn="l" rtl="0" eaLnBrk="0">
                <a:lnSpc>
                  <a:spcPct val="91000"/>
                </a:lnSpc>
              </a:pPr>
              <a:r>
                <a:rPr sz="39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No.04</a:t>
              </a:r>
              <a:endParaRPr sz="3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72" name="path 572"/>
          <p:cNvSpPr/>
          <p:nvPr/>
        </p:nvSpPr>
        <p:spPr>
          <a:xfrm>
            <a:off x="9148826" y="5821807"/>
            <a:ext cx="2643505" cy="3035172"/>
          </a:xfrm>
          <a:custGeom>
            <a:avLst/>
            <a:gdLst/>
            <a:ahLst/>
            <a:cxnLst/>
            <a:rect l="0" t="0" r="0" b="0"/>
            <a:pathLst>
              <a:path w="4163" h="4779">
                <a:moveTo>
                  <a:pt x="2081" y="0"/>
                </a:moveTo>
                <a:lnTo>
                  <a:pt x="4163" y="1039"/>
                </a:lnTo>
                <a:lnTo>
                  <a:pt x="4163" y="3740"/>
                </a:lnTo>
                <a:lnTo>
                  <a:pt x="2081" y="4779"/>
                </a:lnTo>
                <a:lnTo>
                  <a:pt x="0" y="3740"/>
                </a:lnTo>
                <a:lnTo>
                  <a:pt x="0" y="1039"/>
                </a:lnTo>
                <a:lnTo>
                  <a:pt x="2081" y="0"/>
                </a:lnTo>
                <a:close/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4" name="path 574"/>
          <p:cNvSpPr/>
          <p:nvPr/>
        </p:nvSpPr>
        <p:spPr>
          <a:xfrm>
            <a:off x="6309486" y="5838063"/>
            <a:ext cx="2639440" cy="3035172"/>
          </a:xfrm>
          <a:custGeom>
            <a:avLst/>
            <a:gdLst/>
            <a:ahLst/>
            <a:cxnLst/>
            <a:rect l="0" t="0" r="0" b="0"/>
            <a:pathLst>
              <a:path w="4156" h="4779">
                <a:moveTo>
                  <a:pt x="2078" y="0"/>
                </a:moveTo>
                <a:lnTo>
                  <a:pt x="4156" y="1039"/>
                </a:lnTo>
                <a:lnTo>
                  <a:pt x="4156" y="3740"/>
                </a:lnTo>
                <a:lnTo>
                  <a:pt x="2078" y="4779"/>
                </a:lnTo>
                <a:lnTo>
                  <a:pt x="0" y="3740"/>
                </a:lnTo>
                <a:lnTo>
                  <a:pt x="0" y="1039"/>
                </a:lnTo>
                <a:lnTo>
                  <a:pt x="2078" y="0"/>
                </a:lnTo>
                <a:close/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4877561" y="3259835"/>
            <a:ext cx="2639441" cy="3035173"/>
            <a:chOff x="0" y="0"/>
            <a:chExt cx="2639441" cy="3035173"/>
          </a:xfrm>
        </p:grpSpPr>
        <p:sp>
          <p:nvSpPr>
            <p:cNvPr id="576" name="path 576"/>
            <p:cNvSpPr/>
            <p:nvPr/>
          </p:nvSpPr>
          <p:spPr>
            <a:xfrm>
              <a:off x="0" y="0"/>
              <a:ext cx="2639441" cy="3035173"/>
            </a:xfrm>
            <a:custGeom>
              <a:avLst/>
              <a:gdLst/>
              <a:ahLst/>
              <a:cxnLst/>
              <a:rect l="0" t="0" r="0" b="0"/>
              <a:pathLst>
                <a:path w="4156" h="4779">
                  <a:moveTo>
                    <a:pt x="2078" y="0"/>
                  </a:moveTo>
                  <a:lnTo>
                    <a:pt x="4156" y="1039"/>
                  </a:lnTo>
                  <a:lnTo>
                    <a:pt x="4156" y="3740"/>
                  </a:lnTo>
                  <a:lnTo>
                    <a:pt x="2078" y="4779"/>
                  </a:lnTo>
                  <a:lnTo>
                    <a:pt x="0" y="3740"/>
                  </a:lnTo>
                  <a:lnTo>
                    <a:pt x="0" y="1039"/>
                  </a:lnTo>
                  <a:lnTo>
                    <a:pt x="2078" y="0"/>
                  </a:lnTo>
                  <a:close/>
                </a:path>
              </a:pathLst>
            </a:cu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8" name="textbox 578"/>
            <p:cNvSpPr/>
            <p:nvPr/>
          </p:nvSpPr>
          <p:spPr>
            <a:xfrm>
              <a:off x="-12700" y="-12700"/>
              <a:ext cx="2665095" cy="306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09600" algn="l" rtl="0" eaLnBrk="0">
                <a:lnSpc>
                  <a:spcPct val="91000"/>
                </a:lnSpc>
              </a:pPr>
              <a:r>
                <a:rPr sz="39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No.01</a:t>
              </a:r>
              <a:endParaRPr sz="3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 rot="21600000">
            <a:off x="7741411" y="3259835"/>
            <a:ext cx="2639441" cy="3035173"/>
            <a:chOff x="0" y="0"/>
            <a:chExt cx="2639441" cy="3035173"/>
          </a:xfrm>
        </p:grpSpPr>
        <p:sp>
          <p:nvSpPr>
            <p:cNvPr id="580" name="path 580"/>
            <p:cNvSpPr/>
            <p:nvPr/>
          </p:nvSpPr>
          <p:spPr>
            <a:xfrm>
              <a:off x="0" y="0"/>
              <a:ext cx="2639441" cy="3035173"/>
            </a:xfrm>
            <a:custGeom>
              <a:avLst/>
              <a:gdLst/>
              <a:ahLst/>
              <a:cxnLst/>
              <a:rect l="0" t="0" r="0" b="0"/>
              <a:pathLst>
                <a:path w="4156" h="4779">
                  <a:moveTo>
                    <a:pt x="2078" y="0"/>
                  </a:moveTo>
                  <a:lnTo>
                    <a:pt x="4156" y="1039"/>
                  </a:lnTo>
                  <a:lnTo>
                    <a:pt x="4156" y="3740"/>
                  </a:lnTo>
                  <a:lnTo>
                    <a:pt x="2078" y="4779"/>
                  </a:lnTo>
                  <a:lnTo>
                    <a:pt x="0" y="3740"/>
                  </a:lnTo>
                  <a:lnTo>
                    <a:pt x="0" y="1039"/>
                  </a:lnTo>
                  <a:lnTo>
                    <a:pt x="2078" y="0"/>
                  </a:lnTo>
                  <a:close/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2" name="textbox 582"/>
            <p:cNvSpPr/>
            <p:nvPr/>
          </p:nvSpPr>
          <p:spPr>
            <a:xfrm>
              <a:off x="-12700" y="-12700"/>
              <a:ext cx="2665095" cy="306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7155" algn="l" rtl="0" eaLnBrk="0">
                <a:lnSpc>
                  <a:spcPct val="89000"/>
                </a:lnSpc>
              </a:pPr>
              <a:r>
                <a:rPr sz="4800" b="1" kern="0" spc="-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高效</a:t>
              </a:r>
              <a:r>
                <a:rPr sz="4800" b="1" kern="0" spc="-5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4800" b="1" kern="0" spc="-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异步</a:t>
              </a:r>
              <a:endParaRPr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5000"/>
                </a:lnSpc>
              </a:pP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1117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48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可视化</a:t>
              </a:r>
              <a:endParaRPr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84" name="textbox 584"/>
          <p:cNvSpPr/>
          <p:nvPr/>
        </p:nvSpPr>
        <p:spPr>
          <a:xfrm>
            <a:off x="1629433" y="7161739"/>
            <a:ext cx="4578984" cy="1699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6" name="textbox 586"/>
          <p:cNvSpPr/>
          <p:nvPr/>
        </p:nvSpPr>
        <p:spPr>
          <a:xfrm>
            <a:off x="12133222" y="7290644"/>
            <a:ext cx="5237479" cy="1063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88" name="picture 5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882" y="152844"/>
            <a:ext cx="3790314" cy="918273"/>
          </a:xfrm>
          <a:prstGeom prst="rect">
            <a:avLst/>
          </a:prstGeom>
        </p:spPr>
      </p:pic>
      <p:sp>
        <p:nvSpPr>
          <p:cNvPr id="590" name="textbox 590"/>
          <p:cNvSpPr/>
          <p:nvPr/>
        </p:nvSpPr>
        <p:spPr>
          <a:xfrm>
            <a:off x="6894304" y="7069613"/>
            <a:ext cx="4359275" cy="582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3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No.02         </a:t>
            </a:r>
            <a:r>
              <a:rPr sz="3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No.03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2" name="textbox 592"/>
          <p:cNvSpPr/>
          <p:nvPr/>
        </p:nvSpPr>
        <p:spPr>
          <a:xfrm>
            <a:off x="1616561" y="6422878"/>
            <a:ext cx="4592320" cy="513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3600" b="1" kern="0" spc="-10" dirty="0">
                <a:solidFill>
                  <a:srgbClr val="0067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3600" b="1" kern="0" spc="-10" dirty="0">
                <a:solidFill>
                  <a:srgbClr val="0067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文件系统结构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4" name="rect 594"/>
          <p:cNvSpPr/>
          <p:nvPr/>
        </p:nvSpPr>
        <p:spPr>
          <a:xfrm>
            <a:off x="16124682" y="64"/>
            <a:ext cx="1859661" cy="1103058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6" name="textbox 596"/>
          <p:cNvSpPr/>
          <p:nvPr/>
        </p:nvSpPr>
        <p:spPr>
          <a:xfrm>
            <a:off x="12124918" y="6552412"/>
            <a:ext cx="2759710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600" b="1" kern="0" spc="-20" dirty="0">
                <a:solidFill>
                  <a:srgbClr val="0067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8" name="textbox 598"/>
          <p:cNvSpPr/>
          <p:nvPr/>
        </p:nvSpPr>
        <p:spPr>
          <a:xfrm>
            <a:off x="965735" y="1678349"/>
            <a:ext cx="2369185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 工作总结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0" name="textbox 600"/>
          <p:cNvSpPr/>
          <p:nvPr/>
        </p:nvSpPr>
        <p:spPr>
          <a:xfrm>
            <a:off x="14063980" y="419100"/>
            <a:ext cx="3279140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2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网络模块</a:t>
            </a:r>
            <a:r>
              <a:rPr sz="2400" b="1" kern="0" spc="4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sz="2400" b="1" kern="0" spc="40" dirty="0">
                <a:solidFill>
                  <a:srgbClr val="73737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9285528" y="419252"/>
            <a:ext cx="2154554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sz="2400" b="1" kern="0" spc="-1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4" name="textbox 604"/>
          <p:cNvSpPr/>
          <p:nvPr/>
        </p:nvSpPr>
        <p:spPr>
          <a:xfrm>
            <a:off x="7149515" y="419252"/>
            <a:ext cx="213613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进程管理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6" name="textbox 606"/>
          <p:cNvSpPr/>
          <p:nvPr/>
        </p:nvSpPr>
        <p:spPr>
          <a:xfrm>
            <a:off x="5067376" y="419252"/>
            <a:ext cx="12407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400" b="1" kern="0" spc="-1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8" name="textbox 608"/>
          <p:cNvSpPr/>
          <p:nvPr/>
        </p:nvSpPr>
        <p:spPr>
          <a:xfrm>
            <a:off x="11696243" y="419252"/>
            <a:ext cx="1228089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zh-CN" sz="2400" b="1" kern="0" spc="-30" dirty="0">
                <a:solidFill>
                  <a:srgbClr val="808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sz="2400" b="1" kern="0" spc="-30" dirty="0">
              <a:solidFill>
                <a:srgbClr val="808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ct 610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2" name="textbox 612"/>
          <p:cNvSpPr/>
          <p:nvPr/>
        </p:nvSpPr>
        <p:spPr>
          <a:xfrm>
            <a:off x="2782163" y="1784705"/>
            <a:ext cx="14328139" cy="3436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1085"/>
              </a:spcBef>
            </a:pPr>
            <a:r>
              <a:rPr sz="36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3600" kern="0" spc="4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完善图形化界面的功能，提高程序稳定性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89000"/>
              </a:lnSpc>
              <a:spcBef>
                <a:spcPts val="1085"/>
              </a:spcBef>
            </a:pPr>
            <a:r>
              <a:rPr sz="3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3600" kern="0" spc="3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支持更多的用户程序，进一步完善内核的使</a:t>
            </a:r>
            <a:r>
              <a:rPr sz="36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用体验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89000"/>
              </a:lnSpc>
              <a:spcBef>
                <a:spcPts val="5"/>
              </a:spcBef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6" name="group 56"/>
          <p:cNvGrpSpPr/>
          <p:nvPr/>
        </p:nvGrpSpPr>
        <p:grpSpPr>
          <a:xfrm rot="21600000">
            <a:off x="1485138" y="477646"/>
            <a:ext cx="2308733" cy="906145"/>
            <a:chOff x="0" y="0"/>
            <a:chExt cx="2308733" cy="906145"/>
          </a:xfrm>
        </p:grpSpPr>
        <p:sp>
          <p:nvSpPr>
            <p:cNvPr id="642" name="path 642"/>
            <p:cNvSpPr/>
            <p:nvPr/>
          </p:nvSpPr>
          <p:spPr>
            <a:xfrm>
              <a:off x="0" y="0"/>
              <a:ext cx="2308733" cy="906145"/>
            </a:xfrm>
            <a:custGeom>
              <a:avLst/>
              <a:gdLst/>
              <a:ahLst/>
              <a:cxnLst/>
              <a:rect l="0" t="0" r="0" b="0"/>
              <a:pathLst>
                <a:path w="3635" h="1427">
                  <a:moveTo>
                    <a:pt x="0" y="713"/>
                  </a:moveTo>
                  <a:cubicBezTo>
                    <a:pt x="0" y="319"/>
                    <a:pt x="319" y="0"/>
                    <a:pt x="713" y="0"/>
                  </a:cubicBezTo>
                  <a:lnTo>
                    <a:pt x="2922" y="0"/>
                  </a:lnTo>
                  <a:cubicBezTo>
                    <a:pt x="3316" y="0"/>
                    <a:pt x="3635" y="319"/>
                    <a:pt x="3635" y="713"/>
                  </a:cubicBezTo>
                  <a:cubicBezTo>
                    <a:pt x="3635" y="1107"/>
                    <a:pt x="3316" y="1426"/>
                    <a:pt x="2922" y="1426"/>
                  </a:cubicBezTo>
                  <a:lnTo>
                    <a:pt x="713" y="1426"/>
                  </a:lnTo>
                  <a:cubicBezTo>
                    <a:pt x="319" y="1427"/>
                    <a:pt x="0" y="1107"/>
                    <a:pt x="0" y="713"/>
                  </a:cubicBezTo>
                </a:path>
              </a:pathLst>
            </a:custGeom>
            <a:solidFill>
              <a:srgbClr val="0070C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4" name="textbox 644"/>
            <p:cNvSpPr/>
            <p:nvPr/>
          </p:nvSpPr>
          <p:spPr>
            <a:xfrm>
              <a:off x="-12700" y="-12700"/>
              <a:ext cx="2334260" cy="932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86410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27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未来展望</a:t>
              </a:r>
              <a:endParaRPr sz="2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rect 646"/>
          <p:cNvSpPr/>
          <p:nvPr/>
        </p:nvSpPr>
        <p:spPr>
          <a:xfrm>
            <a:off x="0" y="0"/>
            <a:ext cx="18288000" cy="10286997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48" name="picture 6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3181476"/>
            <a:ext cx="18288000" cy="4573397"/>
          </a:xfrm>
          <a:prstGeom prst="rect">
            <a:avLst/>
          </a:prstGeom>
        </p:spPr>
      </p:pic>
      <p:pic>
        <p:nvPicPr>
          <p:cNvPr id="650" name="picture 6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48183" y="110273"/>
            <a:ext cx="5323357" cy="1242529"/>
          </a:xfrm>
          <a:prstGeom prst="rect">
            <a:avLst/>
          </a:prstGeom>
        </p:spPr>
      </p:pic>
      <p:sp>
        <p:nvSpPr>
          <p:cNvPr id="652" name="textbox 652"/>
          <p:cNvSpPr/>
          <p:nvPr/>
        </p:nvSpPr>
        <p:spPr>
          <a:xfrm>
            <a:off x="7721269" y="4820310"/>
            <a:ext cx="3575684" cy="1364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200" b="1" kern="0" spc="-800" dirty="0">
                <a:solidFill>
                  <a:srgbClr val="F2F2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谢谢！</a:t>
            </a:r>
            <a:endParaRPr sz="9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2354</Words>
  <Application>WPS 演示</Application>
  <PresentationFormat/>
  <Paragraphs>408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Pantheon 杭州电子科技大学.pptx</dc:title>
  <dc:creator/>
  <cp:lastModifiedBy>信与青鸟</cp:lastModifiedBy>
  <cp:revision>41</cp:revision>
  <dcterms:created xsi:type="dcterms:W3CDTF">2025-06-29T06:01:00Z</dcterms:created>
  <dcterms:modified xsi:type="dcterms:W3CDTF">2025-06-29T07:41:14Z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2025-06-29T21:57:23Z</vt:filetime>
  </property>
  <property fmtid="{D5CDD505-2E9C-101B-9397-08002B2CF9AE}" pid="4" name="ICV">
    <vt:lpwstr>B373701A4B7F47968A06E789927AD05B_13</vt:lpwstr>
  </property>
  <property fmtid="{D5CDD505-2E9C-101B-9397-08002B2CF9AE}" pid="5" name="KSOProductBuildVer">
    <vt:lpwstr>2052-12.1.0.21541</vt:lpwstr>
  </property>
</Properties>
</file>